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258" r:id="rId3"/>
    <p:sldId id="261" r:id="rId4"/>
    <p:sldId id="262" r:id="rId5"/>
    <p:sldId id="263" r:id="rId6"/>
    <p:sldId id="259" r:id="rId7"/>
    <p:sldId id="260" r:id="rId8"/>
    <p:sldId id="264" r:id="rId9"/>
    <p:sldId id="265" r:id="rId10"/>
    <p:sldId id="269" r:id="rId11"/>
    <p:sldId id="266" r:id="rId12"/>
    <p:sldId id="267" r:id="rId13"/>
    <p:sldId id="268" r:id="rId14"/>
    <p:sldId id="271" r:id="rId15"/>
    <p:sldId id="272" r:id="rId16"/>
    <p:sldId id="274" r:id="rId17"/>
    <p:sldId id="270" r:id="rId18"/>
    <p:sldId id="273" r:id="rId19"/>
    <p:sldId id="276" r:id="rId20"/>
    <p:sldId id="277" r:id="rId21"/>
    <p:sldId id="278" r:id="rId22"/>
    <p:sldId id="279" r:id="rId23"/>
    <p:sldId id="275" r:id="rId24"/>
    <p:sldId id="280" r:id="rId25"/>
    <p:sldId id="281" r:id="rId26"/>
    <p:sldId id="282" r:id="rId27"/>
    <p:sldId id="28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16E8CD-3FBB-4D88-8AD1-D47F9F1EAA32}" type="doc">
      <dgm:prSet loTypeId="urn:microsoft.com/office/officeart/2018/2/layout/IconVerticalSolidList" loCatId="icon" qsTypeId="urn:microsoft.com/office/officeart/2005/8/quickstyle/simple4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D3DA3111-334F-49A9-A4FE-A60CACEF13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Abnormal condition in a code sequence, which arises at run-time</a:t>
          </a:r>
        </a:p>
      </dgm:t>
    </dgm:pt>
    <dgm:pt modelId="{BA940E92-00B4-4778-8147-4A287B265936}" type="parTrans" cxnId="{D567BE58-52E3-4DA6-A615-A810263C51C3}">
      <dgm:prSet/>
      <dgm:spPr/>
      <dgm:t>
        <a:bodyPr/>
        <a:lstStyle/>
        <a:p>
          <a:endParaRPr lang="en-US"/>
        </a:p>
      </dgm:t>
    </dgm:pt>
    <dgm:pt modelId="{160DCCC8-2749-4AFE-8CF4-89A6C55A59A6}" type="sibTrans" cxnId="{D567BE58-52E3-4DA6-A615-A810263C51C3}">
      <dgm:prSet/>
      <dgm:spPr/>
      <dgm:t>
        <a:bodyPr/>
        <a:lstStyle/>
        <a:p>
          <a:endParaRPr lang="en-US"/>
        </a:p>
      </dgm:t>
    </dgm:pt>
    <dgm:pt modelId="{6FBD3219-B85A-4C49-A5B4-FFB1FA4D35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Run Time Error</a:t>
          </a:r>
        </a:p>
      </dgm:t>
    </dgm:pt>
    <dgm:pt modelId="{A6DCC614-F6BC-42F3-BB87-41F2E032F3E8}" type="parTrans" cxnId="{F45EBF8B-4AE2-43BE-BE03-259224DE06BA}">
      <dgm:prSet/>
      <dgm:spPr/>
      <dgm:t>
        <a:bodyPr/>
        <a:lstStyle/>
        <a:p>
          <a:endParaRPr lang="en-US"/>
        </a:p>
      </dgm:t>
    </dgm:pt>
    <dgm:pt modelId="{98837FFC-6831-43D1-9E7E-D531CDF20315}" type="sibTrans" cxnId="{F45EBF8B-4AE2-43BE-BE03-259224DE06BA}">
      <dgm:prSet/>
      <dgm:spPr/>
      <dgm:t>
        <a:bodyPr/>
        <a:lstStyle/>
        <a:p>
          <a:endParaRPr lang="en-US"/>
        </a:p>
      </dgm:t>
    </dgm:pt>
    <dgm:pt modelId="{C10C849B-4A59-4BF4-B65D-81324FC231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Disrupts the normal flow of program</a:t>
          </a:r>
        </a:p>
      </dgm:t>
    </dgm:pt>
    <dgm:pt modelId="{52B354BA-6062-43FC-BDD7-4D906DBEF39A}" type="parTrans" cxnId="{25C47A45-2B26-404E-A7FF-96CAFB67EACF}">
      <dgm:prSet/>
      <dgm:spPr/>
      <dgm:t>
        <a:bodyPr/>
        <a:lstStyle/>
        <a:p>
          <a:endParaRPr lang="en-US"/>
        </a:p>
      </dgm:t>
    </dgm:pt>
    <dgm:pt modelId="{27B563B7-E9FC-4978-905F-70FC0D7BFE80}" type="sibTrans" cxnId="{25C47A45-2B26-404E-A7FF-96CAFB67EACF}">
      <dgm:prSet/>
      <dgm:spPr/>
      <dgm:t>
        <a:bodyPr/>
        <a:lstStyle/>
        <a:p>
          <a:endParaRPr lang="en-US"/>
        </a:p>
      </dgm:t>
    </dgm:pt>
    <dgm:pt modelId="{3D0B0832-F9CF-4D14-A9D7-5E1E7D5CE27C}" type="pres">
      <dgm:prSet presAssocID="{F616E8CD-3FBB-4D88-8AD1-D47F9F1EAA32}" presName="root" presStyleCnt="0">
        <dgm:presLayoutVars>
          <dgm:dir/>
          <dgm:resizeHandles val="exact"/>
        </dgm:presLayoutVars>
      </dgm:prSet>
      <dgm:spPr/>
    </dgm:pt>
    <dgm:pt modelId="{B29B0FE6-AE03-463E-B366-937341834493}" type="pres">
      <dgm:prSet presAssocID="{D3DA3111-334F-49A9-A4FE-A60CACEF13FA}" presName="compNode" presStyleCnt="0"/>
      <dgm:spPr/>
    </dgm:pt>
    <dgm:pt modelId="{673C4342-1DAE-411B-88E6-7A5BB97746D3}" type="pres">
      <dgm:prSet presAssocID="{D3DA3111-334F-49A9-A4FE-A60CACEF13FA}" presName="bgRect" presStyleLbl="bgShp" presStyleIdx="0" presStyleCnt="3"/>
      <dgm:spPr/>
    </dgm:pt>
    <dgm:pt modelId="{D8FE7BD7-B8CB-4231-BB6F-48035094DBE3}" type="pres">
      <dgm:prSet presAssocID="{D3DA3111-334F-49A9-A4FE-A60CACEF13FA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EE53009D-7E3A-463F-99E2-7C66E37AECCD}" type="pres">
      <dgm:prSet presAssocID="{D3DA3111-334F-49A9-A4FE-A60CACEF13FA}" presName="spaceRect" presStyleCnt="0"/>
      <dgm:spPr/>
    </dgm:pt>
    <dgm:pt modelId="{96B4BC83-D639-4600-8861-273D5FF7B249}" type="pres">
      <dgm:prSet presAssocID="{D3DA3111-334F-49A9-A4FE-A60CACEF13FA}" presName="parTx" presStyleLbl="revTx" presStyleIdx="0" presStyleCnt="3">
        <dgm:presLayoutVars>
          <dgm:chMax val="0"/>
          <dgm:chPref val="0"/>
        </dgm:presLayoutVars>
      </dgm:prSet>
      <dgm:spPr/>
    </dgm:pt>
    <dgm:pt modelId="{65A94DAC-4D97-4F35-BC28-6C54367681BD}" type="pres">
      <dgm:prSet presAssocID="{160DCCC8-2749-4AFE-8CF4-89A6C55A59A6}" presName="sibTrans" presStyleCnt="0"/>
      <dgm:spPr/>
    </dgm:pt>
    <dgm:pt modelId="{2CA30DAB-C3C8-4C8B-ABD7-502717DBBC38}" type="pres">
      <dgm:prSet presAssocID="{6FBD3219-B85A-4C49-A5B4-FFB1FA4D3549}" presName="compNode" presStyleCnt="0"/>
      <dgm:spPr/>
    </dgm:pt>
    <dgm:pt modelId="{162600D2-8499-4C3B-B7C5-99CA37934B3D}" type="pres">
      <dgm:prSet presAssocID="{6FBD3219-B85A-4C49-A5B4-FFB1FA4D3549}" presName="bgRect" presStyleLbl="bgShp" presStyleIdx="1" presStyleCnt="3"/>
      <dgm:spPr/>
    </dgm:pt>
    <dgm:pt modelId="{76CFA976-D3B3-4058-819A-E79A89B89DEA}" type="pres">
      <dgm:prSet presAssocID="{6FBD3219-B85A-4C49-A5B4-FFB1FA4D3549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5260E325-3C3F-4D5F-9AE5-030DB9205E44}" type="pres">
      <dgm:prSet presAssocID="{6FBD3219-B85A-4C49-A5B4-FFB1FA4D3549}" presName="spaceRect" presStyleCnt="0"/>
      <dgm:spPr/>
    </dgm:pt>
    <dgm:pt modelId="{38920BC3-2753-4181-9407-E0A93FEC52E9}" type="pres">
      <dgm:prSet presAssocID="{6FBD3219-B85A-4C49-A5B4-FFB1FA4D3549}" presName="parTx" presStyleLbl="revTx" presStyleIdx="1" presStyleCnt="3">
        <dgm:presLayoutVars>
          <dgm:chMax val="0"/>
          <dgm:chPref val="0"/>
        </dgm:presLayoutVars>
      </dgm:prSet>
      <dgm:spPr/>
    </dgm:pt>
    <dgm:pt modelId="{ADE24A67-4B05-4202-BDAE-8DF0383340B3}" type="pres">
      <dgm:prSet presAssocID="{98837FFC-6831-43D1-9E7E-D531CDF20315}" presName="sibTrans" presStyleCnt="0"/>
      <dgm:spPr/>
    </dgm:pt>
    <dgm:pt modelId="{18568C1A-AA54-4D94-B0A5-9DC9F9CA4995}" type="pres">
      <dgm:prSet presAssocID="{C10C849B-4A59-4BF4-B65D-81324FC23135}" presName="compNode" presStyleCnt="0"/>
      <dgm:spPr/>
    </dgm:pt>
    <dgm:pt modelId="{FB3395E5-A990-44BB-9A4A-795D8B1682BD}" type="pres">
      <dgm:prSet presAssocID="{C10C849B-4A59-4BF4-B65D-81324FC23135}" presName="bgRect" presStyleLbl="bgShp" presStyleIdx="2" presStyleCnt="3"/>
      <dgm:spPr/>
    </dgm:pt>
    <dgm:pt modelId="{8904C83C-79CA-472A-8701-86F658E6E33E}" type="pres">
      <dgm:prSet presAssocID="{C10C849B-4A59-4BF4-B65D-81324FC23135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E91B1411-EF6B-4710-B20C-AA76DF7F55D9}" type="pres">
      <dgm:prSet presAssocID="{C10C849B-4A59-4BF4-B65D-81324FC23135}" presName="spaceRect" presStyleCnt="0"/>
      <dgm:spPr/>
    </dgm:pt>
    <dgm:pt modelId="{A9EF36D8-3B4D-403A-9FCD-0C8031F33FE2}" type="pres">
      <dgm:prSet presAssocID="{C10C849B-4A59-4BF4-B65D-81324FC2313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5C47A45-2B26-404E-A7FF-96CAFB67EACF}" srcId="{F616E8CD-3FBB-4D88-8AD1-D47F9F1EAA32}" destId="{C10C849B-4A59-4BF4-B65D-81324FC23135}" srcOrd="2" destOrd="0" parTransId="{52B354BA-6062-43FC-BDD7-4D906DBEF39A}" sibTransId="{27B563B7-E9FC-4978-905F-70FC0D7BFE80}"/>
    <dgm:cxn modelId="{D567BE58-52E3-4DA6-A615-A810263C51C3}" srcId="{F616E8CD-3FBB-4D88-8AD1-D47F9F1EAA32}" destId="{D3DA3111-334F-49A9-A4FE-A60CACEF13FA}" srcOrd="0" destOrd="0" parTransId="{BA940E92-00B4-4778-8147-4A287B265936}" sibTransId="{160DCCC8-2749-4AFE-8CF4-89A6C55A59A6}"/>
    <dgm:cxn modelId="{1A454379-CEDB-4C19-84AC-F2474ECEDBB9}" type="presOf" srcId="{F616E8CD-3FBB-4D88-8AD1-D47F9F1EAA32}" destId="{3D0B0832-F9CF-4D14-A9D7-5E1E7D5CE27C}" srcOrd="0" destOrd="0" presId="urn:microsoft.com/office/officeart/2018/2/layout/IconVerticalSolidList"/>
    <dgm:cxn modelId="{D0F4C159-D4C8-4F46-97DC-73E19AA0D324}" type="presOf" srcId="{C10C849B-4A59-4BF4-B65D-81324FC23135}" destId="{A9EF36D8-3B4D-403A-9FCD-0C8031F33FE2}" srcOrd="0" destOrd="0" presId="urn:microsoft.com/office/officeart/2018/2/layout/IconVerticalSolidList"/>
    <dgm:cxn modelId="{F45EBF8B-4AE2-43BE-BE03-259224DE06BA}" srcId="{F616E8CD-3FBB-4D88-8AD1-D47F9F1EAA32}" destId="{6FBD3219-B85A-4C49-A5B4-FFB1FA4D3549}" srcOrd="1" destOrd="0" parTransId="{A6DCC614-F6BC-42F3-BB87-41F2E032F3E8}" sibTransId="{98837FFC-6831-43D1-9E7E-D531CDF20315}"/>
    <dgm:cxn modelId="{969003AD-5714-4977-8B3E-D63F0196AFDE}" type="presOf" srcId="{6FBD3219-B85A-4C49-A5B4-FFB1FA4D3549}" destId="{38920BC3-2753-4181-9407-E0A93FEC52E9}" srcOrd="0" destOrd="0" presId="urn:microsoft.com/office/officeart/2018/2/layout/IconVerticalSolidList"/>
    <dgm:cxn modelId="{BB32A2D7-0724-453E-B5F6-C0E5A64F4210}" type="presOf" srcId="{D3DA3111-334F-49A9-A4FE-A60CACEF13FA}" destId="{96B4BC83-D639-4600-8861-273D5FF7B249}" srcOrd="0" destOrd="0" presId="urn:microsoft.com/office/officeart/2018/2/layout/IconVerticalSolidList"/>
    <dgm:cxn modelId="{5DA22AAE-1621-4EB8-8321-675D0186DD40}" type="presParOf" srcId="{3D0B0832-F9CF-4D14-A9D7-5E1E7D5CE27C}" destId="{B29B0FE6-AE03-463E-B366-937341834493}" srcOrd="0" destOrd="0" presId="urn:microsoft.com/office/officeart/2018/2/layout/IconVerticalSolidList"/>
    <dgm:cxn modelId="{03986E8C-62AE-4F49-B751-B07F67DB6823}" type="presParOf" srcId="{B29B0FE6-AE03-463E-B366-937341834493}" destId="{673C4342-1DAE-411B-88E6-7A5BB97746D3}" srcOrd="0" destOrd="0" presId="urn:microsoft.com/office/officeart/2018/2/layout/IconVerticalSolidList"/>
    <dgm:cxn modelId="{3C9B0042-BAA9-41BF-842E-2C470A6895C8}" type="presParOf" srcId="{B29B0FE6-AE03-463E-B366-937341834493}" destId="{D8FE7BD7-B8CB-4231-BB6F-48035094DBE3}" srcOrd="1" destOrd="0" presId="urn:microsoft.com/office/officeart/2018/2/layout/IconVerticalSolidList"/>
    <dgm:cxn modelId="{FAE6C3B3-8DC1-43EC-8ED2-4CEC4F05C5E3}" type="presParOf" srcId="{B29B0FE6-AE03-463E-B366-937341834493}" destId="{EE53009D-7E3A-463F-99E2-7C66E37AECCD}" srcOrd="2" destOrd="0" presId="urn:microsoft.com/office/officeart/2018/2/layout/IconVerticalSolidList"/>
    <dgm:cxn modelId="{2FF8CE24-1953-41D1-ABCA-15F95DBB01FD}" type="presParOf" srcId="{B29B0FE6-AE03-463E-B366-937341834493}" destId="{96B4BC83-D639-4600-8861-273D5FF7B249}" srcOrd="3" destOrd="0" presId="urn:microsoft.com/office/officeart/2018/2/layout/IconVerticalSolidList"/>
    <dgm:cxn modelId="{573585FF-C46B-46D7-ABA7-DD9B59B2CF09}" type="presParOf" srcId="{3D0B0832-F9CF-4D14-A9D7-5E1E7D5CE27C}" destId="{65A94DAC-4D97-4F35-BC28-6C54367681BD}" srcOrd="1" destOrd="0" presId="urn:microsoft.com/office/officeart/2018/2/layout/IconVerticalSolidList"/>
    <dgm:cxn modelId="{0ECBC051-191A-43B8-8E94-68FB00F5C301}" type="presParOf" srcId="{3D0B0832-F9CF-4D14-A9D7-5E1E7D5CE27C}" destId="{2CA30DAB-C3C8-4C8B-ABD7-502717DBBC38}" srcOrd="2" destOrd="0" presId="urn:microsoft.com/office/officeart/2018/2/layout/IconVerticalSolidList"/>
    <dgm:cxn modelId="{F4572355-DCE1-4365-BE95-3F50DE1789F7}" type="presParOf" srcId="{2CA30DAB-C3C8-4C8B-ABD7-502717DBBC38}" destId="{162600D2-8499-4C3B-B7C5-99CA37934B3D}" srcOrd="0" destOrd="0" presId="urn:microsoft.com/office/officeart/2018/2/layout/IconVerticalSolidList"/>
    <dgm:cxn modelId="{7C14038E-D7B7-4DA3-9978-5CEA99036B3C}" type="presParOf" srcId="{2CA30DAB-C3C8-4C8B-ABD7-502717DBBC38}" destId="{76CFA976-D3B3-4058-819A-E79A89B89DEA}" srcOrd="1" destOrd="0" presId="urn:microsoft.com/office/officeart/2018/2/layout/IconVerticalSolidList"/>
    <dgm:cxn modelId="{A307D0DC-E33F-48A9-B83F-2B975740DB09}" type="presParOf" srcId="{2CA30DAB-C3C8-4C8B-ABD7-502717DBBC38}" destId="{5260E325-3C3F-4D5F-9AE5-030DB9205E44}" srcOrd="2" destOrd="0" presId="urn:microsoft.com/office/officeart/2018/2/layout/IconVerticalSolidList"/>
    <dgm:cxn modelId="{FD26DFE8-6A48-47D9-8119-3E5AAE561CB9}" type="presParOf" srcId="{2CA30DAB-C3C8-4C8B-ABD7-502717DBBC38}" destId="{38920BC3-2753-4181-9407-E0A93FEC52E9}" srcOrd="3" destOrd="0" presId="urn:microsoft.com/office/officeart/2018/2/layout/IconVerticalSolidList"/>
    <dgm:cxn modelId="{56EDD832-757E-4D3F-AFCB-7F8C0CA6DAB2}" type="presParOf" srcId="{3D0B0832-F9CF-4D14-A9D7-5E1E7D5CE27C}" destId="{ADE24A67-4B05-4202-BDAE-8DF0383340B3}" srcOrd="3" destOrd="0" presId="urn:microsoft.com/office/officeart/2018/2/layout/IconVerticalSolidList"/>
    <dgm:cxn modelId="{DF4C2E8C-F274-426D-B62F-92A0DB803290}" type="presParOf" srcId="{3D0B0832-F9CF-4D14-A9D7-5E1E7D5CE27C}" destId="{18568C1A-AA54-4D94-B0A5-9DC9F9CA4995}" srcOrd="4" destOrd="0" presId="urn:microsoft.com/office/officeart/2018/2/layout/IconVerticalSolidList"/>
    <dgm:cxn modelId="{BD4F0117-D222-4D4A-B77D-5F43F63848A5}" type="presParOf" srcId="{18568C1A-AA54-4D94-B0A5-9DC9F9CA4995}" destId="{FB3395E5-A990-44BB-9A4A-795D8B1682BD}" srcOrd="0" destOrd="0" presId="urn:microsoft.com/office/officeart/2018/2/layout/IconVerticalSolidList"/>
    <dgm:cxn modelId="{38011705-2791-4615-8FAD-945C1DE6EFDB}" type="presParOf" srcId="{18568C1A-AA54-4D94-B0A5-9DC9F9CA4995}" destId="{8904C83C-79CA-472A-8701-86F658E6E33E}" srcOrd="1" destOrd="0" presId="urn:microsoft.com/office/officeart/2018/2/layout/IconVerticalSolidList"/>
    <dgm:cxn modelId="{AA0865EE-053B-44B8-8D08-F8D0083A98A1}" type="presParOf" srcId="{18568C1A-AA54-4D94-B0A5-9DC9F9CA4995}" destId="{E91B1411-EF6B-4710-B20C-AA76DF7F55D9}" srcOrd="2" destOrd="0" presId="urn:microsoft.com/office/officeart/2018/2/layout/IconVerticalSolidList"/>
    <dgm:cxn modelId="{D07393F5-AA8C-4606-ACD6-D13A82D95A83}" type="presParOf" srcId="{18568C1A-AA54-4D94-B0A5-9DC9F9CA4995}" destId="{A9EF36D8-3B4D-403A-9FCD-0C8031F33FE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82655D8-DAF8-4D78-826E-A2E4D8C13133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en-US"/>
        </a:p>
      </dgm:t>
    </dgm:pt>
    <dgm:pt modelId="{1DA89A46-46C6-4833-9E53-6966D051719A}">
      <dgm:prSet/>
      <dgm:spPr/>
      <dgm:t>
        <a:bodyPr/>
        <a:lstStyle/>
        <a:p>
          <a:r>
            <a:rPr lang="en-US" b="0" i="0" baseline="0"/>
            <a:t>Dividing by zero </a:t>
          </a:r>
          <a:endParaRPr lang="en-US"/>
        </a:p>
      </dgm:t>
    </dgm:pt>
    <dgm:pt modelId="{B406BA80-257C-4725-9FED-5FFFF764DCAC}" type="parTrans" cxnId="{E9049B80-7C81-4091-AA5B-D52AD0767EB9}">
      <dgm:prSet/>
      <dgm:spPr/>
      <dgm:t>
        <a:bodyPr/>
        <a:lstStyle/>
        <a:p>
          <a:endParaRPr lang="en-US"/>
        </a:p>
      </dgm:t>
    </dgm:pt>
    <dgm:pt modelId="{94EB841C-CB7D-4A60-B9E8-94CBA7EC0826}" type="sibTrans" cxnId="{E9049B80-7C81-4091-AA5B-D52AD0767EB9}">
      <dgm:prSet/>
      <dgm:spPr/>
      <dgm:t>
        <a:bodyPr/>
        <a:lstStyle/>
        <a:p>
          <a:endParaRPr lang="en-US"/>
        </a:p>
      </dgm:t>
    </dgm:pt>
    <dgm:pt modelId="{E68F2EC8-5572-4C3A-83E3-B3608BFFB018}">
      <dgm:prSet/>
      <dgm:spPr/>
      <dgm:t>
        <a:bodyPr/>
        <a:lstStyle/>
        <a:p>
          <a:r>
            <a:rPr lang="en-US" b="0" i="0" baseline="0"/>
            <a:t>Accessing invalid array index </a:t>
          </a:r>
          <a:endParaRPr lang="en-US"/>
        </a:p>
      </dgm:t>
    </dgm:pt>
    <dgm:pt modelId="{ABDBA1CB-5531-4ADA-A34C-5738F4838B36}" type="parTrans" cxnId="{05F1968F-122B-4FD7-A5DF-99AAE93EA7F9}">
      <dgm:prSet/>
      <dgm:spPr/>
      <dgm:t>
        <a:bodyPr/>
        <a:lstStyle/>
        <a:p>
          <a:endParaRPr lang="en-US"/>
        </a:p>
      </dgm:t>
    </dgm:pt>
    <dgm:pt modelId="{3DAFAAD7-AC84-4881-8E4E-7D1EE15D3EC6}" type="sibTrans" cxnId="{05F1968F-122B-4FD7-A5DF-99AAE93EA7F9}">
      <dgm:prSet/>
      <dgm:spPr/>
      <dgm:t>
        <a:bodyPr/>
        <a:lstStyle/>
        <a:p>
          <a:endParaRPr lang="en-US"/>
        </a:p>
      </dgm:t>
    </dgm:pt>
    <dgm:pt modelId="{5DCC3149-5D14-49F4-9CD9-9A2337356BD9}">
      <dgm:prSet/>
      <dgm:spPr/>
      <dgm:t>
        <a:bodyPr/>
        <a:lstStyle/>
        <a:p>
          <a:r>
            <a:rPr lang="en-US" b="0" i="0" baseline="0"/>
            <a:t>File not found </a:t>
          </a:r>
          <a:endParaRPr lang="en-US"/>
        </a:p>
      </dgm:t>
    </dgm:pt>
    <dgm:pt modelId="{A82B0BB0-E440-4291-83E5-C6662F91D620}" type="parTrans" cxnId="{1259259A-56DB-4F6C-A71E-D6E81B97809E}">
      <dgm:prSet/>
      <dgm:spPr/>
      <dgm:t>
        <a:bodyPr/>
        <a:lstStyle/>
        <a:p>
          <a:endParaRPr lang="en-US"/>
        </a:p>
      </dgm:t>
    </dgm:pt>
    <dgm:pt modelId="{DE752468-DED8-4929-8B55-215FB6B5A17D}" type="sibTrans" cxnId="{1259259A-56DB-4F6C-A71E-D6E81B97809E}">
      <dgm:prSet/>
      <dgm:spPr/>
      <dgm:t>
        <a:bodyPr/>
        <a:lstStyle/>
        <a:p>
          <a:endParaRPr lang="en-US"/>
        </a:p>
      </dgm:t>
    </dgm:pt>
    <dgm:pt modelId="{724C24C8-5628-42FC-B5E8-D98EFAEC134A}" type="pres">
      <dgm:prSet presAssocID="{282655D8-DAF8-4D78-826E-A2E4D8C13133}" presName="linear" presStyleCnt="0">
        <dgm:presLayoutVars>
          <dgm:animLvl val="lvl"/>
          <dgm:resizeHandles val="exact"/>
        </dgm:presLayoutVars>
      </dgm:prSet>
      <dgm:spPr/>
    </dgm:pt>
    <dgm:pt modelId="{05BDF699-5686-4EFF-AB75-F3BCD36D5BA3}" type="pres">
      <dgm:prSet presAssocID="{1DA89A46-46C6-4833-9E53-6966D051719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B2B3EDC-4EDF-4E24-9EB8-A253F458B647}" type="pres">
      <dgm:prSet presAssocID="{94EB841C-CB7D-4A60-B9E8-94CBA7EC0826}" presName="spacer" presStyleCnt="0"/>
      <dgm:spPr/>
    </dgm:pt>
    <dgm:pt modelId="{538035AC-6925-41A4-8A55-2D9160A10995}" type="pres">
      <dgm:prSet presAssocID="{E68F2EC8-5572-4C3A-83E3-B3608BFFB01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9FED525-F51D-4865-A466-F3F5915CF94B}" type="pres">
      <dgm:prSet presAssocID="{3DAFAAD7-AC84-4881-8E4E-7D1EE15D3EC6}" presName="spacer" presStyleCnt="0"/>
      <dgm:spPr/>
    </dgm:pt>
    <dgm:pt modelId="{AEB7CCEC-0FDD-482D-9B38-6B7E05C74957}" type="pres">
      <dgm:prSet presAssocID="{5DCC3149-5D14-49F4-9CD9-9A2337356BD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1D6CE1B-C78D-451D-BEEB-CA49B50F7585}" type="presOf" srcId="{282655D8-DAF8-4D78-826E-A2E4D8C13133}" destId="{724C24C8-5628-42FC-B5E8-D98EFAEC134A}" srcOrd="0" destOrd="0" presId="urn:microsoft.com/office/officeart/2005/8/layout/vList2"/>
    <dgm:cxn modelId="{E9049B80-7C81-4091-AA5B-D52AD0767EB9}" srcId="{282655D8-DAF8-4D78-826E-A2E4D8C13133}" destId="{1DA89A46-46C6-4833-9E53-6966D051719A}" srcOrd="0" destOrd="0" parTransId="{B406BA80-257C-4725-9FED-5FFFF764DCAC}" sibTransId="{94EB841C-CB7D-4A60-B9E8-94CBA7EC0826}"/>
    <dgm:cxn modelId="{05F1968F-122B-4FD7-A5DF-99AAE93EA7F9}" srcId="{282655D8-DAF8-4D78-826E-A2E4D8C13133}" destId="{E68F2EC8-5572-4C3A-83E3-B3608BFFB018}" srcOrd="1" destOrd="0" parTransId="{ABDBA1CB-5531-4ADA-A34C-5738F4838B36}" sibTransId="{3DAFAAD7-AC84-4881-8E4E-7D1EE15D3EC6}"/>
    <dgm:cxn modelId="{1259259A-56DB-4F6C-A71E-D6E81B97809E}" srcId="{282655D8-DAF8-4D78-826E-A2E4D8C13133}" destId="{5DCC3149-5D14-49F4-9CD9-9A2337356BD9}" srcOrd="2" destOrd="0" parTransId="{A82B0BB0-E440-4291-83E5-C6662F91D620}" sibTransId="{DE752468-DED8-4929-8B55-215FB6B5A17D}"/>
    <dgm:cxn modelId="{566F319E-B7DE-48F9-AE0A-5BEEA4C7ED5A}" type="presOf" srcId="{1DA89A46-46C6-4833-9E53-6966D051719A}" destId="{05BDF699-5686-4EFF-AB75-F3BCD36D5BA3}" srcOrd="0" destOrd="0" presId="urn:microsoft.com/office/officeart/2005/8/layout/vList2"/>
    <dgm:cxn modelId="{879AD6A7-FD02-4142-9B80-69BC9150D320}" type="presOf" srcId="{5DCC3149-5D14-49F4-9CD9-9A2337356BD9}" destId="{AEB7CCEC-0FDD-482D-9B38-6B7E05C74957}" srcOrd="0" destOrd="0" presId="urn:microsoft.com/office/officeart/2005/8/layout/vList2"/>
    <dgm:cxn modelId="{4257C4FA-925C-4A3C-9F4D-6E395837C43F}" type="presOf" srcId="{E68F2EC8-5572-4C3A-83E3-B3608BFFB018}" destId="{538035AC-6925-41A4-8A55-2D9160A10995}" srcOrd="0" destOrd="0" presId="urn:microsoft.com/office/officeart/2005/8/layout/vList2"/>
    <dgm:cxn modelId="{7DBB9934-62CC-41EA-90B9-D810005F00CC}" type="presParOf" srcId="{724C24C8-5628-42FC-B5E8-D98EFAEC134A}" destId="{05BDF699-5686-4EFF-AB75-F3BCD36D5BA3}" srcOrd="0" destOrd="0" presId="urn:microsoft.com/office/officeart/2005/8/layout/vList2"/>
    <dgm:cxn modelId="{E4B5B6AE-16A6-4B16-BEF5-DAC76B01957D}" type="presParOf" srcId="{724C24C8-5628-42FC-B5E8-D98EFAEC134A}" destId="{0B2B3EDC-4EDF-4E24-9EB8-A253F458B647}" srcOrd="1" destOrd="0" presId="urn:microsoft.com/office/officeart/2005/8/layout/vList2"/>
    <dgm:cxn modelId="{7467E393-185C-4E50-84F9-E231F7270AC1}" type="presParOf" srcId="{724C24C8-5628-42FC-B5E8-D98EFAEC134A}" destId="{538035AC-6925-41A4-8A55-2D9160A10995}" srcOrd="2" destOrd="0" presId="urn:microsoft.com/office/officeart/2005/8/layout/vList2"/>
    <dgm:cxn modelId="{46C114D6-2446-48CA-9894-8E524D8FFE69}" type="presParOf" srcId="{724C24C8-5628-42FC-B5E8-D98EFAEC134A}" destId="{69FED525-F51D-4865-A466-F3F5915CF94B}" srcOrd="3" destOrd="0" presId="urn:microsoft.com/office/officeart/2005/8/layout/vList2"/>
    <dgm:cxn modelId="{89FD9E63-250F-4FFA-8FA4-689DAC66E822}" type="presParOf" srcId="{724C24C8-5628-42FC-B5E8-D98EFAEC134A}" destId="{AEB7CCEC-0FDD-482D-9B38-6B7E05C7495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75E9CA0-44DC-444D-8BEB-15C5F6201D5A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CEA12D11-B930-4A5B-821A-AC489B8B6322}">
      <dgm:prSet/>
      <dgm:spPr/>
      <dgm:t>
        <a:bodyPr/>
        <a:lstStyle/>
        <a:p>
          <a:r>
            <a:rPr lang="en-US"/>
            <a:t>When an error occurs, Java will normally stop and generate an error message. </a:t>
          </a:r>
        </a:p>
      </dgm:t>
    </dgm:pt>
    <dgm:pt modelId="{4E9BB7DE-6529-489D-AE7E-C1127B7668E7}" type="parTrans" cxnId="{FADEDD8D-4659-4B0D-B736-7150E024831D}">
      <dgm:prSet/>
      <dgm:spPr/>
      <dgm:t>
        <a:bodyPr/>
        <a:lstStyle/>
        <a:p>
          <a:endParaRPr lang="en-US"/>
        </a:p>
      </dgm:t>
    </dgm:pt>
    <dgm:pt modelId="{A1F864F7-CCD7-46F2-96A3-E2A8361BE8DE}" type="sibTrans" cxnId="{FADEDD8D-4659-4B0D-B736-7150E024831D}">
      <dgm:prSet/>
      <dgm:spPr/>
      <dgm:t>
        <a:bodyPr/>
        <a:lstStyle/>
        <a:p>
          <a:endParaRPr lang="en-US"/>
        </a:p>
      </dgm:t>
    </dgm:pt>
    <dgm:pt modelId="{2E266A74-F018-443C-A443-720E7487AA51}">
      <dgm:prSet/>
      <dgm:spPr/>
      <dgm:t>
        <a:bodyPr/>
        <a:lstStyle/>
        <a:p>
          <a:r>
            <a:rPr lang="en-US"/>
            <a:t>The technical term for this is: Java will throw an </a:t>
          </a:r>
          <a:r>
            <a:rPr lang="en-US" b="1"/>
            <a:t>exception</a:t>
          </a:r>
          <a:r>
            <a:rPr lang="en-US"/>
            <a:t> (throw an error).</a:t>
          </a:r>
        </a:p>
      </dgm:t>
    </dgm:pt>
    <dgm:pt modelId="{FC78B479-3A93-4631-B86C-FC29F288C1F8}" type="parTrans" cxnId="{028136E0-B942-45ED-9A23-E4475EA1E07A}">
      <dgm:prSet/>
      <dgm:spPr/>
      <dgm:t>
        <a:bodyPr/>
        <a:lstStyle/>
        <a:p>
          <a:endParaRPr lang="en-US"/>
        </a:p>
      </dgm:t>
    </dgm:pt>
    <dgm:pt modelId="{9A6098C7-EE3F-443F-872B-0064FF464FE6}" type="sibTrans" cxnId="{028136E0-B942-45ED-9A23-E4475EA1E07A}">
      <dgm:prSet/>
      <dgm:spPr/>
      <dgm:t>
        <a:bodyPr/>
        <a:lstStyle/>
        <a:p>
          <a:endParaRPr lang="en-US"/>
        </a:p>
      </dgm:t>
    </dgm:pt>
    <dgm:pt modelId="{DFD3080C-A97E-418A-B2D2-A9B3F3DCBF0E}" type="pres">
      <dgm:prSet presAssocID="{075E9CA0-44DC-444D-8BEB-15C5F6201D5A}" presName="linear" presStyleCnt="0">
        <dgm:presLayoutVars>
          <dgm:animLvl val="lvl"/>
          <dgm:resizeHandles val="exact"/>
        </dgm:presLayoutVars>
      </dgm:prSet>
      <dgm:spPr/>
    </dgm:pt>
    <dgm:pt modelId="{BB94BAC6-BFE9-409D-9D25-77A49F65BB41}" type="pres">
      <dgm:prSet presAssocID="{CEA12D11-B930-4A5B-821A-AC489B8B632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62ED220-38A0-4DA9-AB6B-5309873118FB}" type="pres">
      <dgm:prSet presAssocID="{A1F864F7-CCD7-46F2-96A3-E2A8361BE8DE}" presName="spacer" presStyleCnt="0"/>
      <dgm:spPr/>
    </dgm:pt>
    <dgm:pt modelId="{1B4D5607-7B6D-44C4-A0BB-D473516EBBEF}" type="pres">
      <dgm:prSet presAssocID="{2E266A74-F018-443C-A443-720E7487AA51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FADEDD8D-4659-4B0D-B736-7150E024831D}" srcId="{075E9CA0-44DC-444D-8BEB-15C5F6201D5A}" destId="{CEA12D11-B930-4A5B-821A-AC489B8B6322}" srcOrd="0" destOrd="0" parTransId="{4E9BB7DE-6529-489D-AE7E-C1127B7668E7}" sibTransId="{A1F864F7-CCD7-46F2-96A3-E2A8361BE8DE}"/>
    <dgm:cxn modelId="{F5851CB6-0D36-412A-A461-03532FCD94B3}" type="presOf" srcId="{075E9CA0-44DC-444D-8BEB-15C5F6201D5A}" destId="{DFD3080C-A97E-418A-B2D2-A9B3F3DCBF0E}" srcOrd="0" destOrd="0" presId="urn:microsoft.com/office/officeart/2005/8/layout/vList2"/>
    <dgm:cxn modelId="{680CBDC0-FE39-4271-9DCF-D8533FBBFFA2}" type="presOf" srcId="{2E266A74-F018-443C-A443-720E7487AA51}" destId="{1B4D5607-7B6D-44C4-A0BB-D473516EBBEF}" srcOrd="0" destOrd="0" presId="urn:microsoft.com/office/officeart/2005/8/layout/vList2"/>
    <dgm:cxn modelId="{1D6EC4D8-90B3-4B78-8C15-F835C88459C9}" type="presOf" srcId="{CEA12D11-B930-4A5B-821A-AC489B8B6322}" destId="{BB94BAC6-BFE9-409D-9D25-77A49F65BB41}" srcOrd="0" destOrd="0" presId="urn:microsoft.com/office/officeart/2005/8/layout/vList2"/>
    <dgm:cxn modelId="{028136E0-B942-45ED-9A23-E4475EA1E07A}" srcId="{075E9CA0-44DC-444D-8BEB-15C5F6201D5A}" destId="{2E266A74-F018-443C-A443-720E7487AA51}" srcOrd="1" destOrd="0" parTransId="{FC78B479-3A93-4631-B86C-FC29F288C1F8}" sibTransId="{9A6098C7-EE3F-443F-872B-0064FF464FE6}"/>
    <dgm:cxn modelId="{EE7057BD-FC47-4CBD-B2BC-A8D370DC828D}" type="presParOf" srcId="{DFD3080C-A97E-418A-B2D2-A9B3F3DCBF0E}" destId="{BB94BAC6-BFE9-409D-9D25-77A49F65BB41}" srcOrd="0" destOrd="0" presId="urn:microsoft.com/office/officeart/2005/8/layout/vList2"/>
    <dgm:cxn modelId="{A5C314AC-5D0B-426F-86D9-168F6E0E7A99}" type="presParOf" srcId="{DFD3080C-A97E-418A-B2D2-A9B3F3DCBF0E}" destId="{B62ED220-38A0-4DA9-AB6B-5309873118FB}" srcOrd="1" destOrd="0" presId="urn:microsoft.com/office/officeart/2005/8/layout/vList2"/>
    <dgm:cxn modelId="{47F9D55D-35E5-4487-9FC3-D59C9A29B13D}" type="presParOf" srcId="{DFD3080C-A97E-418A-B2D2-A9B3F3DCBF0E}" destId="{1B4D5607-7B6D-44C4-A0BB-D473516EBBE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3C4342-1DAE-411B-88E6-7A5BB97746D3}">
      <dsp:nvSpPr>
        <dsp:cNvPr id="0" name=""/>
        <dsp:cNvSpPr/>
      </dsp:nvSpPr>
      <dsp:spPr>
        <a:xfrm>
          <a:off x="0" y="573"/>
          <a:ext cx="6117578" cy="1342950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8FE7BD7-B8CB-4231-BB6F-48035094DBE3}">
      <dsp:nvSpPr>
        <dsp:cNvPr id="0" name=""/>
        <dsp:cNvSpPr/>
      </dsp:nvSpPr>
      <dsp:spPr>
        <a:xfrm>
          <a:off x="406242" y="302737"/>
          <a:ext cx="738622" cy="7386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6B4BC83-D639-4600-8861-273D5FF7B249}">
      <dsp:nvSpPr>
        <dsp:cNvPr id="0" name=""/>
        <dsp:cNvSpPr/>
      </dsp:nvSpPr>
      <dsp:spPr>
        <a:xfrm>
          <a:off x="1551107" y="573"/>
          <a:ext cx="4566470" cy="1342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129" tIns="142129" rIns="142129" bIns="142129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Abnormal condition in a code sequence, which arises at run-time</a:t>
          </a:r>
        </a:p>
      </dsp:txBody>
      <dsp:txXfrm>
        <a:off x="1551107" y="573"/>
        <a:ext cx="4566470" cy="1342950"/>
      </dsp:txXfrm>
    </dsp:sp>
    <dsp:sp modelId="{162600D2-8499-4C3B-B7C5-99CA37934B3D}">
      <dsp:nvSpPr>
        <dsp:cNvPr id="0" name=""/>
        <dsp:cNvSpPr/>
      </dsp:nvSpPr>
      <dsp:spPr>
        <a:xfrm>
          <a:off x="0" y="1679261"/>
          <a:ext cx="6117578" cy="1342950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6CFA976-D3B3-4058-819A-E79A89B89DEA}">
      <dsp:nvSpPr>
        <dsp:cNvPr id="0" name=""/>
        <dsp:cNvSpPr/>
      </dsp:nvSpPr>
      <dsp:spPr>
        <a:xfrm>
          <a:off x="406242" y="1981425"/>
          <a:ext cx="738622" cy="7386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8920BC3-2753-4181-9407-E0A93FEC52E9}">
      <dsp:nvSpPr>
        <dsp:cNvPr id="0" name=""/>
        <dsp:cNvSpPr/>
      </dsp:nvSpPr>
      <dsp:spPr>
        <a:xfrm>
          <a:off x="1551107" y="1679261"/>
          <a:ext cx="4566470" cy="1342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129" tIns="142129" rIns="142129" bIns="142129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Run Time Error</a:t>
          </a:r>
        </a:p>
      </dsp:txBody>
      <dsp:txXfrm>
        <a:off x="1551107" y="1679261"/>
        <a:ext cx="4566470" cy="1342950"/>
      </dsp:txXfrm>
    </dsp:sp>
    <dsp:sp modelId="{FB3395E5-A990-44BB-9A4A-795D8B1682BD}">
      <dsp:nvSpPr>
        <dsp:cNvPr id="0" name=""/>
        <dsp:cNvSpPr/>
      </dsp:nvSpPr>
      <dsp:spPr>
        <a:xfrm>
          <a:off x="0" y="3357949"/>
          <a:ext cx="6117578" cy="1342950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904C83C-79CA-472A-8701-86F658E6E33E}">
      <dsp:nvSpPr>
        <dsp:cNvPr id="0" name=""/>
        <dsp:cNvSpPr/>
      </dsp:nvSpPr>
      <dsp:spPr>
        <a:xfrm>
          <a:off x="406242" y="3660113"/>
          <a:ext cx="738622" cy="7386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9EF36D8-3B4D-403A-9FCD-0C8031F33FE2}">
      <dsp:nvSpPr>
        <dsp:cNvPr id="0" name=""/>
        <dsp:cNvSpPr/>
      </dsp:nvSpPr>
      <dsp:spPr>
        <a:xfrm>
          <a:off x="1551107" y="3357949"/>
          <a:ext cx="4566470" cy="1342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129" tIns="142129" rIns="142129" bIns="142129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Disrupts the normal flow of program</a:t>
          </a:r>
        </a:p>
      </dsp:txBody>
      <dsp:txXfrm>
        <a:off x="1551107" y="3357949"/>
        <a:ext cx="4566470" cy="13429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BDF699-5686-4EFF-AB75-F3BCD36D5BA3}">
      <dsp:nvSpPr>
        <dsp:cNvPr id="0" name=""/>
        <dsp:cNvSpPr/>
      </dsp:nvSpPr>
      <dsp:spPr>
        <a:xfrm>
          <a:off x="0" y="13954"/>
          <a:ext cx="6117578" cy="148297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0" i="0" kern="1200" baseline="0"/>
            <a:t>Dividing by zero </a:t>
          </a:r>
          <a:endParaRPr lang="en-US" sz="3900" kern="1200"/>
        </a:p>
      </dsp:txBody>
      <dsp:txXfrm>
        <a:off x="72393" y="86347"/>
        <a:ext cx="5972792" cy="1338189"/>
      </dsp:txXfrm>
    </dsp:sp>
    <dsp:sp modelId="{538035AC-6925-41A4-8A55-2D9160A10995}">
      <dsp:nvSpPr>
        <dsp:cNvPr id="0" name=""/>
        <dsp:cNvSpPr/>
      </dsp:nvSpPr>
      <dsp:spPr>
        <a:xfrm>
          <a:off x="0" y="1609249"/>
          <a:ext cx="6117578" cy="148297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0" i="0" kern="1200" baseline="0"/>
            <a:t>Accessing invalid array index </a:t>
          </a:r>
          <a:endParaRPr lang="en-US" sz="3900" kern="1200"/>
        </a:p>
      </dsp:txBody>
      <dsp:txXfrm>
        <a:off x="72393" y="1681642"/>
        <a:ext cx="5972792" cy="1338189"/>
      </dsp:txXfrm>
    </dsp:sp>
    <dsp:sp modelId="{AEB7CCEC-0FDD-482D-9B38-6B7E05C74957}">
      <dsp:nvSpPr>
        <dsp:cNvPr id="0" name=""/>
        <dsp:cNvSpPr/>
      </dsp:nvSpPr>
      <dsp:spPr>
        <a:xfrm>
          <a:off x="0" y="3204544"/>
          <a:ext cx="6117578" cy="148297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0" i="0" kern="1200" baseline="0"/>
            <a:t>File not found </a:t>
          </a:r>
          <a:endParaRPr lang="en-US" sz="3900" kern="1200"/>
        </a:p>
      </dsp:txBody>
      <dsp:txXfrm>
        <a:off x="72393" y="3276937"/>
        <a:ext cx="5972792" cy="13381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94BAC6-BFE9-409D-9D25-77A49F65BB41}">
      <dsp:nvSpPr>
        <dsp:cNvPr id="0" name=""/>
        <dsp:cNvSpPr/>
      </dsp:nvSpPr>
      <dsp:spPr>
        <a:xfrm>
          <a:off x="0" y="455736"/>
          <a:ext cx="6117578" cy="1846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When an error occurs, Java will normally stop and generate an error message. </a:t>
          </a:r>
        </a:p>
      </dsp:txBody>
      <dsp:txXfrm>
        <a:off x="90116" y="545852"/>
        <a:ext cx="5937346" cy="1665808"/>
      </dsp:txXfrm>
    </dsp:sp>
    <dsp:sp modelId="{1B4D5607-7B6D-44C4-A0BB-D473516EBBEF}">
      <dsp:nvSpPr>
        <dsp:cNvPr id="0" name=""/>
        <dsp:cNvSpPr/>
      </dsp:nvSpPr>
      <dsp:spPr>
        <a:xfrm>
          <a:off x="0" y="2399697"/>
          <a:ext cx="6117578" cy="1846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The technical term for this is: Java will throw an </a:t>
          </a:r>
          <a:r>
            <a:rPr lang="en-US" sz="3400" b="1" kern="1200"/>
            <a:t>exception</a:t>
          </a:r>
          <a:r>
            <a:rPr lang="en-US" sz="3400" kern="1200"/>
            <a:t> (throw an error).</a:t>
          </a:r>
        </a:p>
      </dsp:txBody>
      <dsp:txXfrm>
        <a:off x="90116" y="2489813"/>
        <a:ext cx="5937346" cy="16658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7012A8-4806-4724-B7D1-BA2CB13EDB81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9059B0-C47D-46D7-811D-0D2F56FC5B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155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059B0-C47D-46D7-811D-0D2F56FC5B7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208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4AD9D-5505-4972-A285-C3A4976DA7C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3DAC-6E8E-4169-BA07-6AF488F0E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32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4AD9D-5505-4972-A285-C3A4976DA7C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3DAC-6E8E-4169-BA07-6AF488F0E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295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4AD9D-5505-4972-A285-C3A4976DA7C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3DAC-6E8E-4169-BA07-6AF488F0E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327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4AD9D-5505-4972-A285-C3A4976DA7C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3DAC-6E8E-4169-BA07-6AF488F0E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000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4AD9D-5505-4972-A285-C3A4976DA7C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3DAC-6E8E-4169-BA07-6AF488F0E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03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4AD9D-5505-4972-A285-C3A4976DA7C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3DAC-6E8E-4169-BA07-6AF488F0E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359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4AD9D-5505-4972-A285-C3A4976DA7C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3DAC-6E8E-4169-BA07-6AF488F0E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723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4AD9D-5505-4972-A285-C3A4976DA7C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3DAC-6E8E-4169-BA07-6AF488F0E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803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4AD9D-5505-4972-A285-C3A4976DA7C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3DAC-6E8E-4169-BA07-6AF488F0E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533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4AD9D-5505-4972-A285-C3A4976DA7C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3DAC-6E8E-4169-BA07-6AF488F0E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535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4AD9D-5505-4972-A285-C3A4976DA7C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3DAC-6E8E-4169-BA07-6AF488F0E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9421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4AD9D-5505-4972-A285-C3A4976DA7C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3DAC-6E8E-4169-BA07-6AF488F0E520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09502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4AD9D-5505-4972-A285-C3A4976DA7C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3DAC-6E8E-4169-BA07-6AF488F0E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0332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4AD9D-5505-4972-A285-C3A4976DA7C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3DAC-6E8E-4169-BA07-6AF488F0E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190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4AD9D-5505-4972-A285-C3A4976DA7C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3DAC-6E8E-4169-BA07-6AF488F0E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9043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4AD9D-5505-4972-A285-C3A4976DA7C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3DAC-6E8E-4169-BA07-6AF488F0E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5088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4AD9D-5505-4972-A285-C3A4976DA7C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3DAC-6E8E-4169-BA07-6AF488F0E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086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754AD9D-5505-4972-A285-C3A4976DA7C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F64D3DAC-6E8E-4169-BA07-6AF488F0E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2419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FC186A-5A9F-4A9A-A72D-DFBBE9934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8EE1E2B-262B-4EE5-9AB3-125FAB1A8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ln w="15875" cap="sq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558F28-8E0D-2412-A52D-CF89EB8BED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77626" y="966851"/>
            <a:ext cx="6889930" cy="4626864"/>
          </a:xfrm>
          <a:effectLst/>
        </p:spPr>
        <p:txBody>
          <a:bodyPr anchor="ctr">
            <a:normAutofit/>
          </a:bodyPr>
          <a:lstStyle/>
          <a:p>
            <a:pPr algn="l"/>
            <a:r>
              <a:rPr lang="en-US" sz="5000"/>
              <a:t>Exception handling in Java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D9827-B272-271F-81B6-03C05AC5F2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3795" y="966851"/>
            <a:ext cx="2820362" cy="4626864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dirty="0"/>
              <a:t>By: Bilal Ahmed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62CADB7-E9BE-4376-8036-0D21CBDC9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891" y="2057399"/>
            <a:ext cx="0" cy="27432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33174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CFAC9FD-BAD6-47B4-9C11-BE23CEAC7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B67B9C-9B45-4084-9BB5-187071EE9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65428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BF55AD-21FD-C871-DBD6-B9841A178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916" y="1078264"/>
            <a:ext cx="3422930" cy="4701473"/>
          </a:xfrm>
        </p:spPr>
        <p:txBody>
          <a:bodyPr>
            <a:normAutofit/>
          </a:bodyPr>
          <a:lstStyle/>
          <a:p>
            <a:pPr algn="r"/>
            <a:r>
              <a:rPr lang="en-US" sz="4400">
                <a:solidFill>
                  <a:srgbClr val="FFFFFF"/>
                </a:solidFill>
              </a:rPr>
              <a:t>Exception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1517F39C-1FA8-EC25-D98C-BFE0D0EE12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2480578"/>
              </p:ext>
            </p:extLst>
          </p:nvPr>
        </p:nvGraphicFramePr>
        <p:xfrm>
          <a:off x="5114167" y="1078263"/>
          <a:ext cx="6117578" cy="47014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83600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CFAC9FD-BAD6-47B4-9C11-BE23CEAC7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B67B9C-9B45-4084-9BB5-187071EE9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65428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148728-F170-B2D7-DBFE-9D763DE4A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916" y="1078264"/>
            <a:ext cx="3422930" cy="4701473"/>
          </a:xfrm>
        </p:spPr>
        <p:txBody>
          <a:bodyPr>
            <a:normAutofit/>
          </a:bodyPr>
          <a:lstStyle/>
          <a:p>
            <a:pPr algn="r"/>
            <a:r>
              <a:rPr lang="en-US" sz="4400">
                <a:solidFill>
                  <a:srgbClr val="FFFFFF"/>
                </a:solidFill>
              </a:rPr>
              <a:t>Example situations</a:t>
            </a:r>
            <a:endParaRPr lang="en-US" sz="4400" b="1">
              <a:solidFill>
                <a:srgbClr val="FFFFFF"/>
              </a:solidFill>
            </a:endParaRPr>
          </a:p>
        </p:txBody>
      </p:sp>
      <p:graphicFrame>
        <p:nvGraphicFramePr>
          <p:cNvPr id="15" name="Rectangle 1">
            <a:extLst>
              <a:ext uri="{FF2B5EF4-FFF2-40B4-BE49-F238E27FC236}">
                <a16:creationId xmlns:a16="http://schemas.microsoft.com/office/drawing/2014/main" id="{1557BC7D-040F-B039-6BB4-ACF2130C4A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1593742"/>
              </p:ext>
            </p:extLst>
          </p:nvPr>
        </p:nvGraphicFramePr>
        <p:xfrm>
          <a:off x="5114167" y="1078263"/>
          <a:ext cx="6117578" cy="47014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97991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BB96281C-838D-4BCD-BE5A-552E3519C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F50475-2A3D-3D62-EED6-A771FC4EF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51435"/>
            <a:ext cx="4538741" cy="1676961"/>
          </a:xfrm>
        </p:spPr>
        <p:txBody>
          <a:bodyPr>
            <a:normAutofit/>
          </a:bodyPr>
          <a:lstStyle/>
          <a:p>
            <a:r>
              <a:rPr lang="en-US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Code Example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43B7547-BDF8-8BB6-FC50-1D18AF584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420471"/>
            <a:ext cx="4538741" cy="3370729"/>
          </a:xfrm>
        </p:spPr>
        <p:txBody>
          <a:bodyPr anchor="ctr">
            <a:normAutofit/>
          </a:bodyPr>
          <a:lstStyle/>
          <a:p>
            <a:r>
              <a:rPr lang="en-US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Crash → </a:t>
            </a:r>
            <a:r>
              <a:rPr lang="en-US" dirty="0" err="1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ArithmeticException</a:t>
            </a:r>
            <a:endParaRPr lang="en-US" dirty="0">
              <a:ln>
                <a:solidFill>
                  <a:srgbClr val="404040">
                    <a:alpha val="10000"/>
                  </a:srgbClr>
                </a:solidFill>
              </a:ln>
              <a:solidFill>
                <a:srgbClr val="DADADA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0DBF9AA-DD4B-4A5E-B4E5-CA1FD99D2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965196"/>
            <a:ext cx="5121372" cy="4781641"/>
          </a:xfrm>
          <a:prstGeom prst="rect">
            <a:avLst/>
          </a:prstGeom>
          <a:solidFill>
            <a:schemeClr val="bg1"/>
          </a:solidFill>
          <a:ln w="190500">
            <a:solidFill>
              <a:srgbClr val="FFFFFF">
                <a:alpha val="7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097242BD-6689-5A72-9D2F-B5E11E9AF7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1165068"/>
              </p:ext>
            </p:extLst>
          </p:nvPr>
        </p:nvGraphicFramePr>
        <p:xfrm>
          <a:off x="6386852" y="2424410"/>
          <a:ext cx="4539667" cy="2009180"/>
        </p:xfrm>
        <a:graphic>
          <a:graphicData uri="http://schemas.openxmlformats.org/drawingml/2006/table">
            <a:tbl>
              <a:tblPr firstRow="1" bandRow="1">
                <a:noFill/>
                <a:tableStyleId>{616DA210-FB5B-4158-B5E0-FEB733F419BA}</a:tableStyleId>
              </a:tblPr>
              <a:tblGrid>
                <a:gridCol w="4539667">
                  <a:extLst>
                    <a:ext uri="{9D8B030D-6E8A-4147-A177-3AD203B41FA5}">
                      <a16:colId xmlns:a16="http://schemas.microsoft.com/office/drawing/2014/main" val="1569012634"/>
                    </a:ext>
                  </a:extLst>
                </a:gridCol>
              </a:tblGrid>
              <a:tr h="2009180">
                <a:tc>
                  <a:txBody>
                    <a:bodyPr/>
                    <a:lstStyle/>
                    <a:p>
                      <a:r>
                        <a:rPr lang="en-US" sz="2800" b="1" cap="none" spc="0" dirty="0">
                          <a:solidFill>
                            <a:schemeClr val="tx1"/>
                          </a:solidFill>
                        </a:rPr>
                        <a:t>int a = 10;</a:t>
                      </a:r>
                    </a:p>
                    <a:p>
                      <a:r>
                        <a:rPr lang="en-US" sz="2800" b="1" cap="none" spc="0" dirty="0">
                          <a:solidFill>
                            <a:schemeClr val="tx1"/>
                          </a:solidFill>
                        </a:rPr>
                        <a:t>int b = 0;</a:t>
                      </a:r>
                    </a:p>
                    <a:p>
                      <a:r>
                        <a:rPr lang="en-US" sz="2800" b="1" cap="none" spc="0" dirty="0" err="1">
                          <a:solidFill>
                            <a:schemeClr val="tx1"/>
                          </a:solidFill>
                        </a:rPr>
                        <a:t>System.out.println</a:t>
                      </a:r>
                      <a:r>
                        <a:rPr lang="en-US" sz="2800" b="1" cap="none" spc="0" dirty="0">
                          <a:solidFill>
                            <a:schemeClr val="tx1"/>
                          </a:solidFill>
                        </a:rPr>
                        <a:t>(a / b);</a:t>
                      </a:r>
                    </a:p>
                  </a:txBody>
                  <a:tcPr marL="110164" marR="324590" marT="31475" marB="236065" anchor="b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338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4656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24031920-6BF4-7A7D-C7C8-9733AFE189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7" r="40219" b="-1"/>
          <a:stretch>
            <a:fillRect/>
          </a:stretch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E16430-9EF2-28E9-7AF1-1D04FA378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200"/>
              <a:t>Why Exception Handling?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38CCE-3F55-5FEE-E13C-D411394F5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r>
              <a:rPr lang="en-US" sz="1800" dirty="0"/>
              <a:t>Without handling:</a:t>
            </a:r>
          </a:p>
          <a:p>
            <a:pPr lvl="1"/>
            <a:r>
              <a:rPr lang="en-US" dirty="0"/>
              <a:t>Program stops ❌ </a:t>
            </a:r>
          </a:p>
          <a:p>
            <a:pPr lvl="1"/>
            <a:r>
              <a:rPr lang="en-US" dirty="0"/>
              <a:t>Bad user experience ❌ </a:t>
            </a:r>
          </a:p>
          <a:p>
            <a:r>
              <a:rPr lang="en-US" sz="1800" dirty="0"/>
              <a:t>With handling:</a:t>
            </a:r>
          </a:p>
          <a:p>
            <a:pPr lvl="1"/>
            <a:r>
              <a:rPr lang="en-US" dirty="0"/>
              <a:t>Program continues ✅ </a:t>
            </a:r>
          </a:p>
          <a:p>
            <a:pPr lvl="1"/>
            <a:r>
              <a:rPr lang="en-US" dirty="0"/>
              <a:t>Errors are managed properly ✅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35535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CFAC9FD-BAD6-47B4-9C11-BE23CEAC7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B67B9C-9B45-4084-9BB5-187071EE9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65428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13E8A9-365E-BCFC-2D31-E07346A88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916" y="1078264"/>
            <a:ext cx="3422930" cy="4701473"/>
          </a:xfrm>
        </p:spPr>
        <p:txBody>
          <a:bodyPr>
            <a:normAutofit/>
          </a:bodyPr>
          <a:lstStyle/>
          <a:p>
            <a:pPr algn="r"/>
            <a:r>
              <a:rPr lang="en-US" sz="4400">
                <a:solidFill>
                  <a:srgbClr val="FFFFFF"/>
                </a:solidFill>
              </a:rPr>
              <a:t>Java Exceptions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4CC9304F-F14C-0F7D-2810-1D2029F855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374981"/>
              </p:ext>
            </p:extLst>
          </p:nvPr>
        </p:nvGraphicFramePr>
        <p:xfrm>
          <a:off x="5114167" y="1078263"/>
          <a:ext cx="6117578" cy="47014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1378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5CB840F-8E41-4CA5-B79B-25CC80AD2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EE332-D594-EF28-8F94-A30794A41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3078749" cy="9704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80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Basic Structure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C6A88D-2619-4AA6-ED09-3F3F01948D3B}"/>
              </a:ext>
            </a:extLst>
          </p:cNvPr>
          <p:cNvSpPr txBox="1"/>
          <p:nvPr/>
        </p:nvSpPr>
        <p:spPr>
          <a:xfrm>
            <a:off x="913795" y="1732449"/>
            <a:ext cx="3078749" cy="40587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fontAlgn="base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try</a:t>
            </a:r>
            <a:r>
              <a:rPr kumimoji="0" lang="en-US" altLang="en-US" sz="1600" b="0" i="0" u="none" strike="noStrike" cap="none" normalizeH="0" baseline="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 → “I’ll try this code” </a:t>
            </a:r>
          </a:p>
          <a:p>
            <a:pPr marL="0" marR="0" lvl="0" indent="0" fontAlgn="base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catch</a:t>
            </a:r>
            <a:r>
              <a:rPr kumimoji="0" lang="en-US" altLang="en-US" sz="1600" b="0" i="0" u="none" strike="noStrike" cap="none" normalizeH="0" baseline="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 → “If something goes wrong, handle it”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F75C5D-2BA1-43DF-A7EA-02C7DEC12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965196"/>
            <a:ext cx="6581364" cy="4781641"/>
          </a:xfrm>
          <a:prstGeom prst="rect">
            <a:avLst/>
          </a:prstGeom>
          <a:solidFill>
            <a:schemeClr val="bg1"/>
          </a:solidFill>
          <a:ln w="190500">
            <a:solidFill>
              <a:srgbClr val="FFFFFF">
                <a:alpha val="7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878B49C-5A4C-6720-89DA-CC736DA5E9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1875912"/>
              </p:ext>
            </p:extLst>
          </p:nvPr>
        </p:nvGraphicFramePr>
        <p:xfrm>
          <a:off x="5155445" y="1729909"/>
          <a:ext cx="5606627" cy="3252216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606627">
                  <a:extLst>
                    <a:ext uri="{9D8B030D-6E8A-4147-A177-3AD203B41FA5}">
                      <a16:colId xmlns:a16="http://schemas.microsoft.com/office/drawing/2014/main" val="1975761957"/>
                    </a:ext>
                  </a:extLst>
                </a:gridCol>
              </a:tblGrid>
              <a:tr h="325221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try {</a:t>
                      </a:r>
                      <a:br>
                        <a:rPr lang="en-US" sz="3300"/>
                      </a:br>
                      <a:r>
                        <a:rPr lang="en-US" sz="3300"/>
                        <a:t>// risky code</a:t>
                      </a:r>
                      <a:br>
                        <a:rPr lang="en-US" sz="3300"/>
                      </a:br>
                      <a:r>
                        <a:rPr lang="en-US" sz="3300"/>
                        <a:t>} catch (ExceptionType e) {</a:t>
                      </a:r>
                      <a:br>
                        <a:rPr lang="en-US" sz="3300"/>
                      </a:br>
                      <a:r>
                        <a:rPr lang="en-US" sz="3300"/>
                        <a:t>// handling code</a:t>
                      </a:r>
                      <a:br>
                        <a:rPr lang="en-US" sz="3300"/>
                      </a:br>
                      <a:r>
                        <a:rPr lang="en-US" sz="3300"/>
                        <a:t>}</a:t>
                      </a:r>
                    </a:p>
                    <a:p>
                      <a:endParaRPr lang="en-US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2130392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74724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AF7D8-D49A-226B-22AD-56701C4E1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en-US" dirty="0"/>
              <a:t>What will be the output of the following code?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E887E4A-A6FF-B1C0-BCDC-508E270B88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4408621"/>
              </p:ext>
            </p:extLst>
          </p:nvPr>
        </p:nvGraphicFramePr>
        <p:xfrm>
          <a:off x="1844999" y="1731963"/>
          <a:ext cx="8492477" cy="405923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492477">
                  <a:extLst>
                    <a:ext uri="{9D8B030D-6E8A-4147-A177-3AD203B41FA5}">
                      <a16:colId xmlns:a16="http://schemas.microsoft.com/office/drawing/2014/main" val="1101757255"/>
                    </a:ext>
                  </a:extLst>
                </a:gridCol>
              </a:tblGrid>
              <a:tr h="4059237">
                <a:tc>
                  <a:txBody>
                    <a:bodyPr/>
                    <a:lstStyle/>
                    <a:p>
                      <a:r>
                        <a:rPr lang="en-US" sz="2800" b="1" dirty="0"/>
                        <a:t>public class Main {</a:t>
                      </a:r>
                    </a:p>
                    <a:p>
                      <a:r>
                        <a:rPr lang="en-US" sz="2800" b="1" dirty="0"/>
                        <a:t>    public static void main(String[] </a:t>
                      </a:r>
                      <a:r>
                        <a:rPr lang="en-US" sz="2800" b="1" dirty="0" err="1"/>
                        <a:t>args</a:t>
                      </a:r>
                      <a:r>
                        <a:rPr lang="en-US" sz="2800" b="1" dirty="0"/>
                        <a:t>) {</a:t>
                      </a:r>
                    </a:p>
                    <a:p>
                      <a:r>
                        <a:rPr lang="en-US" sz="2800" b="1" dirty="0"/>
                        <a:t>      int a = 10;</a:t>
                      </a:r>
                    </a:p>
                    <a:p>
                      <a:r>
                        <a:rPr lang="en-US" sz="2800" b="1" dirty="0"/>
                        <a:t>      int b = 0;</a:t>
                      </a:r>
                    </a:p>
                    <a:p>
                      <a:r>
                        <a:rPr lang="en-US" sz="2800" b="1" dirty="0"/>
                        <a:t>      int result = a / b;</a:t>
                      </a:r>
                    </a:p>
                    <a:p>
                      <a:r>
                        <a:rPr lang="en-US" sz="2800" b="1" dirty="0"/>
                        <a:t>      </a:t>
                      </a:r>
                      <a:r>
                        <a:rPr lang="en-US" sz="2800" b="1" dirty="0" err="1"/>
                        <a:t>System.out.println</a:t>
                      </a:r>
                      <a:r>
                        <a:rPr lang="en-US" sz="2800" b="1" dirty="0"/>
                        <a:t>(result);</a:t>
                      </a:r>
                    </a:p>
                    <a:p>
                      <a:r>
                        <a:rPr lang="en-US" sz="2800" b="1" dirty="0"/>
                        <a:t>      </a:t>
                      </a:r>
                      <a:r>
                        <a:rPr lang="en-US" sz="2800" b="1" dirty="0" err="1"/>
                        <a:t>System.out.println</a:t>
                      </a:r>
                      <a:r>
                        <a:rPr lang="en-US" sz="2800" b="1" dirty="0"/>
                        <a:t>("Program after error...");</a:t>
                      </a:r>
                    </a:p>
                    <a:p>
                      <a:r>
                        <a:rPr lang="en-US" sz="2800" b="1" dirty="0"/>
                        <a:t>    }</a:t>
                      </a:r>
                    </a:p>
                    <a:p>
                      <a:r>
                        <a:rPr lang="en-US" sz="2800" b="1" dirty="0"/>
                        <a:t>}</a:t>
                      </a:r>
                    </a:p>
                  </a:txBody>
                  <a:tcPr marL="142931" marR="142931" marT="71465" marB="71465"/>
                </a:tc>
                <a:extLst>
                  <a:ext uri="{0D108BD9-81ED-4DB2-BD59-A6C34878D82A}">
                    <a16:rowId xmlns:a16="http://schemas.microsoft.com/office/drawing/2014/main" val="34486120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9602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D5AA2-42E4-7F60-22D8-C0AFD0D4A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43" y="609599"/>
            <a:ext cx="3413156" cy="5273675"/>
          </a:xfrm>
        </p:spPr>
        <p:txBody>
          <a:bodyPr>
            <a:normAutofit/>
          </a:bodyPr>
          <a:lstStyle/>
          <a:p>
            <a:r>
              <a:rPr lang="en-US" dirty="0"/>
              <a:t>Let’s handle it gracefully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77D423-FE81-4236-89DE-39776B810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641" y="609599"/>
            <a:ext cx="6889687" cy="5273675"/>
          </a:xfrm>
          <a:prstGeom prst="rect">
            <a:avLst/>
          </a:prstGeom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92CF846-2E71-DFE3-DE2A-4E7377D54E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7922469"/>
              </p:ext>
            </p:extLst>
          </p:nvPr>
        </p:nvGraphicFramePr>
        <p:xfrm>
          <a:off x="5252892" y="887213"/>
          <a:ext cx="5720030" cy="500769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720030">
                  <a:extLst>
                    <a:ext uri="{9D8B030D-6E8A-4147-A177-3AD203B41FA5}">
                      <a16:colId xmlns:a16="http://schemas.microsoft.com/office/drawing/2014/main" val="477940899"/>
                    </a:ext>
                  </a:extLst>
                </a:gridCol>
              </a:tblGrid>
              <a:tr h="4718448">
                <a:tc>
                  <a:txBody>
                    <a:bodyPr/>
                    <a:lstStyle/>
                    <a:p>
                      <a:r>
                        <a:rPr lang="en-US" sz="1700" dirty="0"/>
                        <a:t>public class Main {</a:t>
                      </a:r>
                    </a:p>
                    <a:p>
                      <a:r>
                        <a:rPr lang="en-US" sz="1700" dirty="0"/>
                        <a:t>    public static void main(String[] </a:t>
                      </a:r>
                      <a:r>
                        <a:rPr lang="en-US" sz="1700" dirty="0" err="1"/>
                        <a:t>args</a:t>
                      </a:r>
                      <a:r>
                        <a:rPr lang="en-US" sz="1700" dirty="0"/>
                        <a:t>) {</a:t>
                      </a:r>
                    </a:p>
                    <a:p>
                      <a:r>
                        <a:rPr lang="en-US" sz="1700" dirty="0"/>
                        <a:t>      int a = 10;</a:t>
                      </a:r>
                    </a:p>
                    <a:p>
                      <a:r>
                        <a:rPr lang="en-US" sz="1700" dirty="0"/>
                        <a:t>      int b = 0;</a:t>
                      </a:r>
                    </a:p>
                    <a:p>
                      <a:r>
                        <a:rPr lang="en-US" sz="1700" dirty="0"/>
                        <a:t>      </a:t>
                      </a:r>
                    </a:p>
                    <a:p>
                      <a:r>
                        <a:rPr lang="en-US" sz="1700" dirty="0"/>
                        <a:t>      try{</a:t>
                      </a:r>
                    </a:p>
                    <a:p>
                      <a:r>
                        <a:rPr lang="en-US" sz="1700" dirty="0"/>
                        <a:t>        int result = a / b;</a:t>
                      </a:r>
                    </a:p>
                    <a:p>
                      <a:r>
                        <a:rPr lang="en-US" sz="1700" dirty="0"/>
                        <a:t>        </a:t>
                      </a:r>
                      <a:r>
                        <a:rPr lang="en-US" sz="1700" dirty="0" err="1"/>
                        <a:t>System.out.println</a:t>
                      </a:r>
                      <a:r>
                        <a:rPr lang="en-US" sz="1700" dirty="0"/>
                        <a:t>(result);</a:t>
                      </a:r>
                    </a:p>
                    <a:p>
                      <a:r>
                        <a:rPr lang="en-US" sz="1700" dirty="0"/>
                        <a:t>      }</a:t>
                      </a:r>
                    </a:p>
                    <a:p>
                      <a:r>
                        <a:rPr lang="en-US" sz="1700" dirty="0"/>
                        <a:t>      </a:t>
                      </a:r>
                    </a:p>
                    <a:p>
                      <a:r>
                        <a:rPr lang="en-US" sz="1700" dirty="0"/>
                        <a:t>      catch (</a:t>
                      </a:r>
                      <a:r>
                        <a:rPr lang="en-US" sz="1700" dirty="0" err="1"/>
                        <a:t>ArithmeticException</a:t>
                      </a:r>
                      <a:r>
                        <a:rPr lang="en-US" sz="1700" dirty="0"/>
                        <a:t> e){</a:t>
                      </a:r>
                    </a:p>
                    <a:p>
                      <a:r>
                        <a:rPr lang="en-US" sz="1700" dirty="0"/>
                        <a:t>        </a:t>
                      </a:r>
                      <a:r>
                        <a:rPr lang="en-US" sz="1700" dirty="0" err="1"/>
                        <a:t>System.out.println</a:t>
                      </a:r>
                      <a:r>
                        <a:rPr lang="en-US" sz="1700" dirty="0"/>
                        <a:t>("Can't divide a number by zero");</a:t>
                      </a:r>
                    </a:p>
                    <a:p>
                      <a:r>
                        <a:rPr lang="en-US" sz="1700" dirty="0"/>
                        <a:t>      }</a:t>
                      </a:r>
                    </a:p>
                    <a:p>
                      <a:endParaRPr lang="en-US" sz="1700" dirty="0"/>
                    </a:p>
                    <a:p>
                      <a:r>
                        <a:rPr lang="en-US" sz="1700" dirty="0"/>
                        <a:t>      </a:t>
                      </a:r>
                      <a:r>
                        <a:rPr lang="en-US" sz="1700" dirty="0" err="1"/>
                        <a:t>System.out.println</a:t>
                      </a:r>
                      <a:r>
                        <a:rPr lang="en-US" sz="1700" dirty="0"/>
                        <a:t>("Continued Program after error...");</a:t>
                      </a:r>
                    </a:p>
                    <a:p>
                      <a:r>
                        <a:rPr lang="en-US" sz="1700" dirty="0"/>
                        <a:t>    }</a:t>
                      </a:r>
                    </a:p>
                    <a:p>
                      <a:r>
                        <a:rPr lang="en-US" sz="1700" dirty="0"/>
                        <a:t>}</a:t>
                      </a:r>
                    </a:p>
                    <a:p>
                      <a:endParaRPr lang="en-US" sz="1700" dirty="0"/>
                    </a:p>
                  </a:txBody>
                  <a:tcPr marL="85171" marR="85171" marT="42585" marB="42585"/>
                </a:tc>
                <a:extLst>
                  <a:ext uri="{0D108BD9-81ED-4DB2-BD59-A6C34878D82A}">
                    <a16:rowId xmlns:a16="http://schemas.microsoft.com/office/drawing/2014/main" val="8742696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6203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F7D4D-F3B4-448D-7511-23256CD8C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43" y="609599"/>
            <a:ext cx="3413156" cy="5273675"/>
          </a:xfrm>
        </p:spPr>
        <p:txBody>
          <a:bodyPr>
            <a:normAutofit/>
          </a:bodyPr>
          <a:lstStyle/>
          <a:p>
            <a:r>
              <a:rPr lang="en-US" dirty="0"/>
              <a:t>Variable in catch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77D423-FE81-4236-89DE-39776B810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641" y="609599"/>
            <a:ext cx="6889687" cy="5273675"/>
          </a:xfrm>
          <a:prstGeom prst="rect">
            <a:avLst/>
          </a:prstGeom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17EADE4-8B91-70B6-1109-DB3E4C0BD3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8852477"/>
              </p:ext>
            </p:extLst>
          </p:nvPr>
        </p:nvGraphicFramePr>
        <p:xfrm>
          <a:off x="4958257" y="1137526"/>
          <a:ext cx="6309300" cy="42306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6309300">
                  <a:extLst>
                    <a:ext uri="{9D8B030D-6E8A-4147-A177-3AD203B41FA5}">
                      <a16:colId xmlns:a16="http://schemas.microsoft.com/office/drawing/2014/main" val="2322805460"/>
                    </a:ext>
                  </a:extLst>
                </a:gridCol>
              </a:tblGrid>
              <a:tr h="4217822">
                <a:tc>
                  <a:txBody>
                    <a:bodyPr/>
                    <a:lstStyle/>
                    <a:p>
                      <a:r>
                        <a:rPr lang="en-US" sz="1700" dirty="0"/>
                        <a:t>public class Main {</a:t>
                      </a:r>
                    </a:p>
                    <a:p>
                      <a:r>
                        <a:rPr lang="en-US" sz="1700" dirty="0"/>
                        <a:t>    public static void main(String[] </a:t>
                      </a:r>
                      <a:r>
                        <a:rPr lang="en-US" sz="1700" dirty="0" err="1"/>
                        <a:t>args</a:t>
                      </a:r>
                      <a:r>
                        <a:rPr lang="en-US" sz="1700" dirty="0"/>
                        <a:t>) {</a:t>
                      </a:r>
                    </a:p>
                    <a:p>
                      <a:r>
                        <a:rPr lang="en-US" sz="1700" dirty="0"/>
                        <a:t>        try {</a:t>
                      </a:r>
                    </a:p>
                    <a:p>
                      <a:r>
                        <a:rPr lang="en-US" sz="1700" dirty="0"/>
                        <a:t>            int a = 10;</a:t>
                      </a:r>
                    </a:p>
                    <a:p>
                      <a:r>
                        <a:rPr lang="en-US" sz="1700" dirty="0"/>
                        <a:t>            int b = 0;</a:t>
                      </a:r>
                    </a:p>
                    <a:p>
                      <a:r>
                        <a:rPr lang="en-US" sz="1700" dirty="0"/>
                        <a:t>            int result = a / b;  // will cause exception</a:t>
                      </a:r>
                    </a:p>
                    <a:p>
                      <a:r>
                        <a:rPr lang="en-US" sz="1700" dirty="0"/>
                        <a:t>            </a:t>
                      </a:r>
                      <a:r>
                        <a:rPr lang="en-US" sz="1700" dirty="0" err="1"/>
                        <a:t>System.out.println</a:t>
                      </a:r>
                      <a:r>
                        <a:rPr lang="en-US" sz="1700" dirty="0"/>
                        <a:t>(result);</a:t>
                      </a:r>
                    </a:p>
                    <a:p>
                      <a:r>
                        <a:rPr lang="en-US" sz="1700" dirty="0"/>
                        <a:t>        } catch (</a:t>
                      </a:r>
                      <a:r>
                        <a:rPr lang="en-US" sz="1700" dirty="0" err="1"/>
                        <a:t>ArithmeticException</a:t>
                      </a:r>
                      <a:r>
                        <a:rPr lang="en-US" sz="1700" dirty="0"/>
                        <a:t> e) {</a:t>
                      </a:r>
                    </a:p>
                    <a:p>
                      <a:r>
                        <a:rPr lang="en-US" sz="1700" dirty="0"/>
                        <a:t>            </a:t>
                      </a:r>
                      <a:r>
                        <a:rPr lang="en-US" sz="1700" dirty="0" err="1"/>
                        <a:t>System.out.println</a:t>
                      </a:r>
                      <a:r>
                        <a:rPr lang="en-US" sz="1700" dirty="0"/>
                        <a:t>("Error message: " + </a:t>
                      </a:r>
                      <a:r>
                        <a:rPr lang="en-US" sz="1700" dirty="0" err="1"/>
                        <a:t>e.getMessage</a:t>
                      </a:r>
                      <a:r>
                        <a:rPr lang="en-US" sz="1700" dirty="0"/>
                        <a:t>());</a:t>
                      </a:r>
                    </a:p>
                    <a:p>
                      <a:r>
                        <a:rPr lang="en-US" sz="1700" dirty="0"/>
                        <a:t>            </a:t>
                      </a:r>
                      <a:r>
                        <a:rPr lang="en-US" sz="1700" dirty="0" err="1"/>
                        <a:t>System.out.println</a:t>
                      </a:r>
                      <a:r>
                        <a:rPr lang="en-US" sz="1700" dirty="0"/>
                        <a:t>("Full details:");</a:t>
                      </a:r>
                    </a:p>
                    <a:p>
                      <a:r>
                        <a:rPr lang="en-US" sz="1700" dirty="0"/>
                        <a:t>            </a:t>
                      </a:r>
                      <a:r>
                        <a:rPr lang="en-US" sz="1700" dirty="0" err="1"/>
                        <a:t>e.printStackTrace</a:t>
                      </a:r>
                      <a:r>
                        <a:rPr lang="en-US" sz="1700" dirty="0"/>
                        <a:t>(</a:t>
                      </a:r>
                      <a:r>
                        <a:rPr lang="en-US" sz="1700" dirty="0" err="1"/>
                        <a:t>System.out</a:t>
                      </a:r>
                      <a:r>
                        <a:rPr lang="en-US" sz="1700" dirty="0"/>
                        <a:t>);</a:t>
                      </a:r>
                    </a:p>
                    <a:p>
                      <a:r>
                        <a:rPr lang="en-US" sz="1700" dirty="0"/>
                        <a:t>        }</a:t>
                      </a:r>
                    </a:p>
                    <a:p>
                      <a:endParaRPr lang="en-US" sz="1700" dirty="0"/>
                    </a:p>
                    <a:p>
                      <a:r>
                        <a:rPr lang="en-US" sz="1700" dirty="0"/>
                        <a:t>        </a:t>
                      </a:r>
                      <a:r>
                        <a:rPr lang="en-US" sz="1700" dirty="0" err="1"/>
                        <a:t>System.out.println</a:t>
                      </a:r>
                      <a:r>
                        <a:rPr lang="en-US" sz="1700" dirty="0"/>
                        <a:t>("Program continues...");</a:t>
                      </a:r>
                    </a:p>
                    <a:p>
                      <a:r>
                        <a:rPr lang="en-US" sz="1700" dirty="0"/>
                        <a:t>    }</a:t>
                      </a:r>
                    </a:p>
                    <a:p>
                      <a:r>
                        <a:rPr lang="en-US" sz="1700" dirty="0"/>
                        <a:t>}</a:t>
                      </a:r>
                    </a:p>
                  </a:txBody>
                  <a:tcPr marL="85381" marR="85381" marT="42690" marB="42690"/>
                </a:tc>
                <a:extLst>
                  <a:ext uri="{0D108BD9-81ED-4DB2-BD59-A6C34878D82A}">
                    <a16:rowId xmlns:a16="http://schemas.microsoft.com/office/drawing/2014/main" val="1176104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1576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43B8C-EB89-FDE4-FA62-FA01C5FF1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43" y="609599"/>
            <a:ext cx="3413156" cy="5273675"/>
          </a:xfrm>
        </p:spPr>
        <p:txBody>
          <a:bodyPr>
            <a:normAutofit/>
          </a:bodyPr>
          <a:lstStyle/>
          <a:p>
            <a:r>
              <a:rPr lang="en-US" dirty="0"/>
              <a:t>What will be the output of the following?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77D423-FE81-4236-89DE-39776B810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641" y="609599"/>
            <a:ext cx="6889687" cy="5273675"/>
          </a:xfrm>
          <a:prstGeom prst="rect">
            <a:avLst/>
          </a:prstGeom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B797CCB-8B9A-ADC6-6159-E81ECDE08D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1470227"/>
              </p:ext>
            </p:extLst>
          </p:nvPr>
        </p:nvGraphicFramePr>
        <p:xfrm>
          <a:off x="4958257" y="921579"/>
          <a:ext cx="6309300" cy="499824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6309300">
                  <a:extLst>
                    <a:ext uri="{9D8B030D-6E8A-4147-A177-3AD203B41FA5}">
                      <a16:colId xmlns:a16="http://schemas.microsoft.com/office/drawing/2014/main" val="573986574"/>
                    </a:ext>
                  </a:extLst>
                </a:gridCol>
              </a:tblGrid>
              <a:tr h="4649716">
                <a:tc>
                  <a:txBody>
                    <a:bodyPr/>
                    <a:lstStyle/>
                    <a:p>
                      <a:r>
                        <a:rPr lang="en-US" sz="1900" dirty="0"/>
                        <a:t>public class Main {</a:t>
                      </a:r>
                    </a:p>
                    <a:p>
                      <a:r>
                        <a:rPr lang="en-US" sz="1900" dirty="0"/>
                        <a:t>    public static void main(String[] </a:t>
                      </a:r>
                      <a:r>
                        <a:rPr lang="en-US" sz="1900" dirty="0" err="1"/>
                        <a:t>args</a:t>
                      </a:r>
                      <a:r>
                        <a:rPr lang="en-US" sz="1900" dirty="0"/>
                        <a:t>) {</a:t>
                      </a:r>
                    </a:p>
                    <a:p>
                      <a:r>
                        <a:rPr lang="en-US" sz="1900" dirty="0"/>
                        <a:t>      int </a:t>
                      </a:r>
                      <a:r>
                        <a:rPr lang="en-US" sz="1900" dirty="0" err="1"/>
                        <a:t>arr</a:t>
                      </a:r>
                      <a:r>
                        <a:rPr lang="en-US" sz="1900" dirty="0"/>
                        <a:t>[] =  {1,2,3,4,5};</a:t>
                      </a:r>
                    </a:p>
                    <a:p>
                      <a:r>
                        <a:rPr lang="en-US" sz="1900" dirty="0"/>
                        <a:t>      </a:t>
                      </a:r>
                    </a:p>
                    <a:p>
                      <a:r>
                        <a:rPr lang="en-US" sz="1900" dirty="0"/>
                        <a:t>      </a:t>
                      </a:r>
                      <a:r>
                        <a:rPr lang="en-US" sz="1900" dirty="0" err="1"/>
                        <a:t>System.out.println</a:t>
                      </a:r>
                      <a:r>
                        <a:rPr lang="en-US" sz="1900" dirty="0"/>
                        <a:t>(</a:t>
                      </a:r>
                      <a:r>
                        <a:rPr lang="en-US" sz="1900" dirty="0" err="1"/>
                        <a:t>arr</a:t>
                      </a:r>
                      <a:r>
                        <a:rPr lang="en-US" sz="1900" dirty="0"/>
                        <a:t>[2]);</a:t>
                      </a:r>
                    </a:p>
                    <a:p>
                      <a:r>
                        <a:rPr lang="en-US" sz="1900" dirty="0"/>
                        <a:t>      try{</a:t>
                      </a:r>
                    </a:p>
                    <a:p>
                      <a:r>
                        <a:rPr lang="en-US" sz="1900" dirty="0"/>
                        <a:t>         </a:t>
                      </a:r>
                      <a:r>
                        <a:rPr lang="en-US" sz="1900" dirty="0" err="1"/>
                        <a:t>System.out.println</a:t>
                      </a:r>
                      <a:r>
                        <a:rPr lang="en-US" sz="1900" dirty="0"/>
                        <a:t>(</a:t>
                      </a:r>
                      <a:r>
                        <a:rPr lang="en-US" sz="1900" dirty="0" err="1"/>
                        <a:t>arr</a:t>
                      </a:r>
                      <a:r>
                        <a:rPr lang="en-US" sz="1900" dirty="0"/>
                        <a:t>[8]);</a:t>
                      </a:r>
                    </a:p>
                    <a:p>
                      <a:r>
                        <a:rPr lang="en-US" sz="1900" dirty="0"/>
                        <a:t>      }</a:t>
                      </a:r>
                    </a:p>
                    <a:p>
                      <a:r>
                        <a:rPr lang="en-US" sz="1900" dirty="0"/>
                        <a:t>      </a:t>
                      </a:r>
                    </a:p>
                    <a:p>
                      <a:r>
                        <a:rPr lang="en-US" sz="1900" dirty="0"/>
                        <a:t>      catch (</a:t>
                      </a:r>
                      <a:r>
                        <a:rPr lang="en-US" sz="1900" dirty="0" err="1"/>
                        <a:t>ArithmeticException</a:t>
                      </a:r>
                      <a:r>
                        <a:rPr lang="en-US" sz="1900" dirty="0"/>
                        <a:t> e){</a:t>
                      </a:r>
                    </a:p>
                    <a:p>
                      <a:r>
                        <a:rPr lang="en-US" sz="1900" dirty="0"/>
                        <a:t>         </a:t>
                      </a:r>
                      <a:r>
                        <a:rPr lang="en-US" sz="1900" dirty="0" err="1"/>
                        <a:t>System.out.println</a:t>
                      </a:r>
                      <a:r>
                        <a:rPr lang="en-US" sz="1900" dirty="0"/>
                        <a:t>("Index out of bound error");</a:t>
                      </a:r>
                    </a:p>
                    <a:p>
                      <a:r>
                        <a:rPr lang="en-US" sz="1900" dirty="0"/>
                        <a:t>      }</a:t>
                      </a:r>
                    </a:p>
                    <a:p>
                      <a:endParaRPr lang="en-US" sz="1900" dirty="0"/>
                    </a:p>
                    <a:p>
                      <a:r>
                        <a:rPr lang="en-US" sz="1900" dirty="0"/>
                        <a:t>      </a:t>
                      </a:r>
                      <a:r>
                        <a:rPr lang="en-US" sz="1900" dirty="0" err="1"/>
                        <a:t>System.out.println</a:t>
                      </a:r>
                      <a:r>
                        <a:rPr lang="en-US" sz="1900" dirty="0"/>
                        <a:t>("Continued Program after error...");</a:t>
                      </a:r>
                    </a:p>
                    <a:p>
                      <a:r>
                        <a:rPr lang="en-US" sz="1900" dirty="0"/>
                        <a:t>    }</a:t>
                      </a:r>
                    </a:p>
                    <a:p>
                      <a:r>
                        <a:rPr lang="en-US" sz="1900" dirty="0"/>
                        <a:t>}</a:t>
                      </a:r>
                    </a:p>
                  </a:txBody>
                  <a:tcPr marL="75726" marR="75726" marT="37864" marB="37864"/>
                </a:tc>
                <a:extLst>
                  <a:ext uri="{0D108BD9-81ED-4DB2-BD59-A6C34878D82A}">
                    <a16:rowId xmlns:a16="http://schemas.microsoft.com/office/drawing/2014/main" val="2180467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6638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00689-6B0B-9E48-D63E-40ADD475B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43" y="609599"/>
            <a:ext cx="3413156" cy="5273675"/>
          </a:xfrm>
        </p:spPr>
        <p:txBody>
          <a:bodyPr>
            <a:normAutofit/>
          </a:bodyPr>
          <a:lstStyle/>
          <a:p>
            <a:r>
              <a:rPr lang="en-US" dirty="0"/>
              <a:t>Solution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77D423-FE81-4236-89DE-39776B810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641" y="609599"/>
            <a:ext cx="6889687" cy="5273675"/>
          </a:xfrm>
          <a:prstGeom prst="rect">
            <a:avLst/>
          </a:prstGeom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8DA17D4-98A8-D010-1803-B551FDF70B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4091213"/>
              </p:ext>
            </p:extLst>
          </p:nvPr>
        </p:nvGraphicFramePr>
        <p:xfrm>
          <a:off x="4958257" y="926003"/>
          <a:ext cx="6309300" cy="4640869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6309300">
                  <a:extLst>
                    <a:ext uri="{9D8B030D-6E8A-4147-A177-3AD203B41FA5}">
                      <a16:colId xmlns:a16="http://schemas.microsoft.com/office/drawing/2014/main" val="1386637067"/>
                    </a:ext>
                  </a:extLst>
                </a:gridCol>
              </a:tblGrid>
              <a:tr h="4640869">
                <a:tc>
                  <a:txBody>
                    <a:bodyPr/>
                    <a:lstStyle/>
                    <a:p>
                      <a:r>
                        <a:rPr lang="en-US" sz="1800" dirty="0"/>
                        <a:t>public class Main {</a:t>
                      </a:r>
                    </a:p>
                    <a:p>
                      <a:r>
                        <a:rPr lang="en-US" sz="1800" dirty="0"/>
                        <a:t>    public static void main(String[] </a:t>
                      </a:r>
                      <a:r>
                        <a:rPr lang="en-US" sz="1800" dirty="0" err="1"/>
                        <a:t>args</a:t>
                      </a:r>
                      <a:r>
                        <a:rPr lang="en-US" sz="1800" dirty="0"/>
                        <a:t>) {</a:t>
                      </a:r>
                    </a:p>
                    <a:p>
                      <a:r>
                        <a:rPr lang="en-US" sz="1800" dirty="0"/>
                        <a:t>      int </a:t>
                      </a:r>
                      <a:r>
                        <a:rPr lang="en-US" sz="1800" dirty="0" err="1"/>
                        <a:t>arr</a:t>
                      </a:r>
                      <a:r>
                        <a:rPr lang="en-US" sz="1800" dirty="0"/>
                        <a:t>[] =  {1,2,3,4,5};</a:t>
                      </a:r>
                    </a:p>
                    <a:p>
                      <a:r>
                        <a:rPr lang="en-US" sz="1800" dirty="0"/>
                        <a:t>      </a:t>
                      </a:r>
                    </a:p>
                    <a:p>
                      <a:r>
                        <a:rPr lang="en-US" sz="1800" dirty="0"/>
                        <a:t>      </a:t>
                      </a:r>
                      <a:r>
                        <a:rPr lang="en-US" sz="1800" dirty="0" err="1"/>
                        <a:t>System.out.println</a:t>
                      </a:r>
                      <a:r>
                        <a:rPr lang="en-US" sz="1800" dirty="0"/>
                        <a:t>(</a:t>
                      </a:r>
                      <a:r>
                        <a:rPr lang="en-US" sz="1800" dirty="0" err="1"/>
                        <a:t>arr</a:t>
                      </a:r>
                      <a:r>
                        <a:rPr lang="en-US" sz="1800" dirty="0"/>
                        <a:t>[2]);</a:t>
                      </a:r>
                    </a:p>
                    <a:p>
                      <a:r>
                        <a:rPr lang="en-US" sz="1800" dirty="0"/>
                        <a:t>      try{</a:t>
                      </a:r>
                    </a:p>
                    <a:p>
                      <a:r>
                        <a:rPr lang="en-US" sz="1800" dirty="0"/>
                        <a:t>        </a:t>
                      </a:r>
                      <a:r>
                        <a:rPr lang="en-US" sz="1800" dirty="0" err="1"/>
                        <a:t>System.out.println</a:t>
                      </a:r>
                      <a:r>
                        <a:rPr lang="en-US" sz="1800" dirty="0"/>
                        <a:t>(</a:t>
                      </a:r>
                      <a:r>
                        <a:rPr lang="en-US" sz="1800" dirty="0" err="1"/>
                        <a:t>arr</a:t>
                      </a:r>
                      <a:r>
                        <a:rPr lang="en-US" sz="1800" dirty="0"/>
                        <a:t>[8]);</a:t>
                      </a:r>
                    </a:p>
                    <a:p>
                      <a:r>
                        <a:rPr lang="en-US" sz="1800" dirty="0"/>
                        <a:t>      }</a:t>
                      </a:r>
                    </a:p>
                    <a:p>
                      <a:r>
                        <a:rPr lang="en-US" sz="1800" dirty="0"/>
                        <a:t>      </a:t>
                      </a:r>
                    </a:p>
                    <a:p>
                      <a:r>
                        <a:rPr lang="en-US" sz="1800" dirty="0"/>
                        <a:t>      catch (</a:t>
                      </a:r>
                      <a:r>
                        <a:rPr lang="en-US" sz="1800" dirty="0" err="1"/>
                        <a:t>ArrayIndexOutOfBoundsException</a:t>
                      </a:r>
                      <a:r>
                        <a:rPr lang="en-US" sz="1800" dirty="0"/>
                        <a:t> e){</a:t>
                      </a:r>
                    </a:p>
                    <a:p>
                      <a:r>
                        <a:rPr lang="en-US" sz="1800" dirty="0"/>
                        <a:t>        </a:t>
                      </a:r>
                      <a:r>
                        <a:rPr lang="en-US" sz="1800" dirty="0" err="1"/>
                        <a:t>System.out.println</a:t>
                      </a:r>
                      <a:r>
                        <a:rPr lang="en-US" sz="1800" dirty="0"/>
                        <a:t>("Index out of bound error");</a:t>
                      </a:r>
                    </a:p>
                    <a:p>
                      <a:r>
                        <a:rPr lang="en-US" sz="1800" dirty="0"/>
                        <a:t>      }</a:t>
                      </a:r>
                    </a:p>
                    <a:p>
                      <a:endParaRPr lang="en-US" sz="1800" dirty="0"/>
                    </a:p>
                    <a:p>
                      <a:r>
                        <a:rPr lang="en-US" sz="1800" dirty="0"/>
                        <a:t>      </a:t>
                      </a:r>
                      <a:r>
                        <a:rPr lang="en-US" sz="1800" dirty="0" err="1"/>
                        <a:t>System.out.println</a:t>
                      </a:r>
                      <a:r>
                        <a:rPr lang="en-US" sz="1800" dirty="0"/>
                        <a:t>("Continued Program after error...");</a:t>
                      </a:r>
                    </a:p>
                    <a:p>
                      <a:r>
                        <a:rPr lang="en-US" sz="1800" dirty="0"/>
                        <a:t>    }</a:t>
                      </a:r>
                    </a:p>
                    <a:p>
                      <a:r>
                        <a:rPr lang="en-US" sz="1800" dirty="0"/>
                        <a:t>}</a:t>
                      </a:r>
                    </a:p>
                  </a:txBody>
                  <a:tcPr marL="93945" marR="93945" marT="46972" marB="46972"/>
                </a:tc>
                <a:extLst>
                  <a:ext uri="{0D108BD9-81ED-4DB2-BD59-A6C34878D82A}">
                    <a16:rowId xmlns:a16="http://schemas.microsoft.com/office/drawing/2014/main" val="4064282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5946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C3D9BD5-A493-4B97-963D-60135D533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F759AF4-E342-4E60-8A32-C44A328F2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ln w="15875" cap="sq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969347-DEBD-91A1-A4BB-0D3ABF38D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4655" y="1023257"/>
            <a:ext cx="3732902" cy="4570457"/>
          </a:xfrm>
          <a:effectLst/>
        </p:spPr>
        <p:txBody>
          <a:bodyPr>
            <a:normAutofit/>
          </a:bodyPr>
          <a:lstStyle/>
          <a:p>
            <a:pPr algn="l"/>
            <a:r>
              <a:rPr lang="en-US" dirty="0"/>
              <a:t>Common Java Exceptions</a:t>
            </a:r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3A5FD21-B4EC-223A-1D9D-5F6609BDF3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1023257"/>
            <a:ext cx="6025645" cy="4570457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ArithmeticException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→ Division or invalid math operation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NullPointerException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→ Using a null (non-existing) object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ArrayIndexOutOfBoundsException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→ Accessing array outside its limit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NumberFormatException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→ Invalid string-to-number conversion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IOException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→ Error during file input/output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49B2805-6469-407A-A68A-BB85AC8A8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23630" y="2057399"/>
            <a:ext cx="0" cy="27432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8395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2A28D-3570-8A52-2986-5B00534FE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Multiple Exceptions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C43DD29-CACF-D3AF-383F-CD52FE5EF2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1764507"/>
              </p:ext>
            </p:extLst>
          </p:nvPr>
        </p:nvGraphicFramePr>
        <p:xfrm>
          <a:off x="914400" y="1731963"/>
          <a:ext cx="10353675" cy="36576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353675">
                  <a:extLst>
                    <a:ext uri="{9D8B030D-6E8A-4147-A177-3AD203B41FA5}">
                      <a16:colId xmlns:a16="http://schemas.microsoft.com/office/drawing/2014/main" val="909342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public class Main {</a:t>
                      </a:r>
                    </a:p>
                    <a:p>
                      <a:r>
                        <a:rPr lang="en-US" dirty="0"/>
                        <a:t>    public static void main(String[] </a:t>
                      </a:r>
                      <a:r>
                        <a:rPr lang="en-US" dirty="0" err="1"/>
                        <a:t>args</a:t>
                      </a:r>
                      <a:r>
                        <a:rPr lang="en-US" dirty="0"/>
                        <a:t>) {</a:t>
                      </a:r>
                    </a:p>
                    <a:p>
                      <a:r>
                        <a:rPr lang="en-US" dirty="0"/>
                        <a:t>        try {</a:t>
                      </a:r>
                    </a:p>
                    <a:p>
                      <a:r>
                        <a:rPr lang="en-US" dirty="0"/>
                        <a:t>            int[] </a:t>
                      </a:r>
                      <a:r>
                        <a:rPr lang="en-US" dirty="0" err="1"/>
                        <a:t>arr</a:t>
                      </a:r>
                      <a:r>
                        <a:rPr lang="en-US" dirty="0"/>
                        <a:t> = {1, 2, 3};</a:t>
                      </a:r>
                    </a:p>
                    <a:p>
                      <a:r>
                        <a:rPr lang="en-US" dirty="0"/>
                        <a:t>            </a:t>
                      </a:r>
                      <a:r>
                        <a:rPr lang="en-US" dirty="0" err="1"/>
                        <a:t>System.out.println</a:t>
                      </a:r>
                      <a:r>
                        <a:rPr lang="en-US" dirty="0"/>
                        <a:t>(</a:t>
                      </a:r>
                      <a:r>
                        <a:rPr lang="en-US" dirty="0" err="1"/>
                        <a:t>arr</a:t>
                      </a:r>
                      <a:r>
                        <a:rPr lang="en-US" dirty="0"/>
                        <a:t>[5]); // Index Error</a:t>
                      </a:r>
                    </a:p>
                    <a:p>
                      <a:r>
                        <a:rPr lang="en-US" dirty="0"/>
                        <a:t>} </a:t>
                      </a:r>
                    </a:p>
                    <a:p>
                      <a:r>
                        <a:rPr lang="en-US" dirty="0"/>
                        <a:t>        catch (</a:t>
                      </a:r>
                      <a:r>
                        <a:rPr lang="en-US" dirty="0" err="1"/>
                        <a:t>ArithmeticException</a:t>
                      </a:r>
                      <a:r>
                        <a:rPr lang="en-US" dirty="0"/>
                        <a:t> e) {</a:t>
                      </a:r>
                    </a:p>
                    <a:p>
                      <a:r>
                        <a:rPr lang="en-US" dirty="0"/>
                        <a:t>            </a:t>
                      </a:r>
                      <a:r>
                        <a:rPr lang="en-US" dirty="0" err="1"/>
                        <a:t>System.out.println</a:t>
                      </a:r>
                      <a:r>
                        <a:rPr lang="en-US" dirty="0"/>
                        <a:t>("Math error!");</a:t>
                      </a:r>
                    </a:p>
                    <a:p>
                      <a:r>
                        <a:rPr lang="en-US" dirty="0"/>
                        <a:t>        }  catch (</a:t>
                      </a:r>
                      <a:r>
                        <a:rPr lang="en-US" dirty="0" err="1"/>
                        <a:t>ArrayIndexOutOfBoundsException</a:t>
                      </a:r>
                      <a:r>
                        <a:rPr lang="en-US" dirty="0"/>
                        <a:t> e) {</a:t>
                      </a:r>
                    </a:p>
                    <a:p>
                      <a:r>
                        <a:rPr lang="en-US" dirty="0"/>
                        <a:t>            </a:t>
                      </a:r>
                      <a:r>
                        <a:rPr lang="en-US" dirty="0" err="1"/>
                        <a:t>System.out.println</a:t>
                      </a:r>
                      <a:r>
                        <a:rPr lang="en-US" dirty="0"/>
                        <a:t>("Index out of range!");</a:t>
                      </a:r>
                    </a:p>
                    <a:p>
                      <a:r>
                        <a:rPr lang="en-US" dirty="0"/>
                        <a:t>        }</a:t>
                      </a:r>
                    </a:p>
                    <a:p>
                      <a:r>
                        <a:rPr lang="en-US" dirty="0"/>
                        <a:t>    }</a:t>
                      </a:r>
                    </a:p>
                    <a:p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984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8323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E3BCB-4A4A-104D-FEFA-766D3B8C3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Multiple Exceptions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2881FA-FF74-328E-472E-491C90D135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4752705"/>
              </p:ext>
            </p:extLst>
          </p:nvPr>
        </p:nvGraphicFramePr>
        <p:xfrm>
          <a:off x="914400" y="1731963"/>
          <a:ext cx="10353675" cy="47548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353675">
                  <a:extLst>
                    <a:ext uri="{9D8B030D-6E8A-4147-A177-3AD203B41FA5}">
                      <a16:colId xmlns:a16="http://schemas.microsoft.com/office/drawing/2014/main" val="4030530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public class Main {</a:t>
                      </a:r>
                    </a:p>
                    <a:p>
                      <a:r>
                        <a:rPr lang="en-US" dirty="0"/>
                        <a:t>    public static void main(String[] </a:t>
                      </a:r>
                      <a:r>
                        <a:rPr lang="en-US" dirty="0" err="1"/>
                        <a:t>args</a:t>
                      </a:r>
                      <a:r>
                        <a:rPr lang="en-US" dirty="0"/>
                        <a:t>) {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        try {</a:t>
                      </a:r>
                    </a:p>
                    <a:p>
                      <a:r>
                        <a:rPr lang="en-US" dirty="0"/>
                        <a:t>            int[] </a:t>
                      </a:r>
                      <a:r>
                        <a:rPr lang="en-US" dirty="0" err="1"/>
                        <a:t>arr</a:t>
                      </a:r>
                      <a:r>
                        <a:rPr lang="en-US" dirty="0"/>
                        <a:t> = {1, 2, 3};</a:t>
                      </a:r>
                    </a:p>
                    <a:p>
                      <a:r>
                        <a:rPr lang="en-US" dirty="0"/>
                        <a:t>            </a:t>
                      </a:r>
                      <a:r>
                        <a:rPr lang="en-US" dirty="0" err="1"/>
                        <a:t>System.out.println</a:t>
                      </a:r>
                      <a:r>
                        <a:rPr lang="en-US" dirty="0"/>
                        <a:t>(</a:t>
                      </a:r>
                      <a:r>
                        <a:rPr lang="en-US" dirty="0" err="1"/>
                        <a:t>arr</a:t>
                      </a:r>
                      <a:r>
                        <a:rPr lang="en-US" dirty="0"/>
                        <a:t>[5]);</a:t>
                      </a:r>
                    </a:p>
                    <a:p>
                      <a:r>
                        <a:rPr lang="en-US" dirty="0"/>
                        <a:t>        } catch (</a:t>
                      </a:r>
                      <a:r>
                        <a:rPr lang="en-US" dirty="0" err="1"/>
                        <a:t>ArrayIndexOutOfBoundsException</a:t>
                      </a:r>
                      <a:r>
                        <a:rPr lang="en-US" dirty="0"/>
                        <a:t> e) {</a:t>
                      </a:r>
                    </a:p>
                    <a:p>
                      <a:r>
                        <a:rPr lang="en-US" dirty="0"/>
                        <a:t>            </a:t>
                      </a:r>
                      <a:r>
                        <a:rPr lang="en-US" dirty="0" err="1"/>
                        <a:t>System.out.println</a:t>
                      </a:r>
                      <a:r>
                        <a:rPr lang="en-US" dirty="0"/>
                        <a:t>("Index out of range!");</a:t>
                      </a:r>
                    </a:p>
                    <a:p>
                      <a:r>
                        <a:rPr lang="en-US" dirty="0"/>
                        <a:t>        }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        try {</a:t>
                      </a:r>
                    </a:p>
                    <a:p>
                      <a:r>
                        <a:rPr lang="en-US" dirty="0"/>
                        <a:t>            int k = 10 / 0;</a:t>
                      </a:r>
                    </a:p>
                    <a:p>
                      <a:r>
                        <a:rPr lang="en-US" dirty="0"/>
                        <a:t>        } catch (</a:t>
                      </a:r>
                      <a:r>
                        <a:rPr lang="en-US" dirty="0" err="1"/>
                        <a:t>ArithmeticException</a:t>
                      </a:r>
                      <a:r>
                        <a:rPr lang="en-US" dirty="0"/>
                        <a:t> e) {</a:t>
                      </a:r>
                    </a:p>
                    <a:p>
                      <a:r>
                        <a:rPr lang="en-US" dirty="0"/>
                        <a:t>            </a:t>
                      </a:r>
                      <a:r>
                        <a:rPr lang="en-US" dirty="0" err="1"/>
                        <a:t>System.out.println</a:t>
                      </a:r>
                      <a:r>
                        <a:rPr lang="en-US" dirty="0"/>
                        <a:t>("Math error!");</a:t>
                      </a:r>
                    </a:p>
                    <a:p>
                      <a:r>
                        <a:rPr lang="en-US" dirty="0"/>
                        <a:t>        }</a:t>
                      </a:r>
                    </a:p>
                    <a:p>
                      <a:r>
                        <a:rPr lang="en-US" dirty="0"/>
                        <a:t>    }</a:t>
                      </a:r>
                    </a:p>
                    <a:p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566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4533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6C2C86-63BF-47D5-AA3F-905111A23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9E356C-3AD5-CF37-F2F6-6494938AB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013" y="1115568"/>
            <a:ext cx="3487616" cy="4626864"/>
          </a:xfrm>
        </p:spPr>
        <p:txBody>
          <a:bodyPr>
            <a:normAutofit/>
          </a:bodyPr>
          <a:lstStyle/>
          <a:p>
            <a:pPr algn="l"/>
            <a:r>
              <a:rPr lang="en-US" sz="3600"/>
              <a:t>Finally Block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5A0768-3044-4AA9-A889-D2CAA68C5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E85B4-B903-D80B-DCE4-A4E84F01D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398" y="1115568"/>
            <a:ext cx="6245352" cy="4626864"/>
          </a:xfrm>
        </p:spPr>
        <p:txBody>
          <a:bodyPr anchor="ctr">
            <a:normAutofit/>
          </a:bodyPr>
          <a:lstStyle/>
          <a:p>
            <a:r>
              <a:rPr lang="en-US" dirty="0"/>
              <a:t>The finally block is used to </a:t>
            </a:r>
            <a:r>
              <a:rPr lang="en-US" b="1" dirty="0"/>
              <a:t>guarantee execution of important code</a:t>
            </a:r>
            <a:r>
              <a:rPr lang="en-US" dirty="0"/>
              <a:t>, no matter what happens.</a:t>
            </a:r>
          </a:p>
          <a:p>
            <a:r>
              <a:rPr lang="en-US" b="1" dirty="0"/>
              <a:t>Simple idea:</a:t>
            </a:r>
          </a:p>
          <a:p>
            <a:pPr lvl="1"/>
            <a:r>
              <a:rPr lang="en-US" dirty="0"/>
              <a:t> “Run this code whether error occurs or not”</a:t>
            </a:r>
          </a:p>
          <a:p>
            <a:r>
              <a:rPr lang="en-US" b="1" dirty="0"/>
              <a:t>When is it useful?</a:t>
            </a:r>
          </a:p>
          <a:p>
            <a:pPr lvl="1"/>
            <a:r>
              <a:rPr lang="en-US" dirty="0"/>
              <a:t>Closing files 📄 </a:t>
            </a:r>
          </a:p>
          <a:p>
            <a:pPr lvl="1"/>
            <a:r>
              <a:rPr lang="en-US" dirty="0"/>
              <a:t>Releasing resources 🔌 </a:t>
            </a:r>
          </a:p>
          <a:p>
            <a:pPr lvl="1"/>
            <a:r>
              <a:rPr lang="en-US" dirty="0"/>
              <a:t>Closing database connections </a:t>
            </a:r>
          </a:p>
          <a:p>
            <a:r>
              <a:rPr lang="en-US" dirty="0"/>
              <a:t> These must happen </a:t>
            </a:r>
            <a:r>
              <a:rPr lang="en-US" b="1" dirty="0"/>
              <a:t>even if an exception occurs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960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ABDF0-D380-1496-3695-17FFD95AE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Finally Block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883B80A-4F93-6549-DC77-466AE43174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9897435"/>
              </p:ext>
            </p:extLst>
          </p:nvPr>
        </p:nvGraphicFramePr>
        <p:xfrm>
          <a:off x="914400" y="1731963"/>
          <a:ext cx="10353675" cy="47548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353675">
                  <a:extLst>
                    <a:ext uri="{9D8B030D-6E8A-4147-A177-3AD203B41FA5}">
                      <a16:colId xmlns:a16="http://schemas.microsoft.com/office/drawing/2014/main" val="7845988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public class Main {</a:t>
                      </a:r>
                    </a:p>
                    <a:p>
                      <a:r>
                        <a:rPr lang="en-US" dirty="0"/>
                        <a:t>    public static void main(String[] </a:t>
                      </a:r>
                      <a:r>
                        <a:rPr lang="en-US" dirty="0" err="1"/>
                        <a:t>args</a:t>
                      </a:r>
                      <a:r>
                        <a:rPr lang="en-US" dirty="0"/>
                        <a:t>) {</a:t>
                      </a:r>
                    </a:p>
                    <a:p>
                      <a:r>
                        <a:rPr lang="en-US" dirty="0"/>
                        <a:t>        try {</a:t>
                      </a:r>
                    </a:p>
                    <a:p>
                      <a:r>
                        <a:rPr lang="en-US" dirty="0"/>
                        <a:t>            int a = 10;</a:t>
                      </a:r>
                    </a:p>
                    <a:p>
                      <a:r>
                        <a:rPr lang="en-US" dirty="0"/>
                        <a:t>            int b = 0;</a:t>
                      </a:r>
                    </a:p>
                    <a:p>
                      <a:r>
                        <a:rPr lang="en-US" dirty="0"/>
                        <a:t>            </a:t>
                      </a:r>
                      <a:r>
                        <a:rPr lang="en-US" dirty="0" err="1"/>
                        <a:t>System.out.println</a:t>
                      </a:r>
                      <a:r>
                        <a:rPr lang="en-US" dirty="0"/>
                        <a:t>(a / b);  // causes exception</a:t>
                      </a:r>
                    </a:p>
                    <a:p>
                      <a:r>
                        <a:rPr lang="en-US" dirty="0"/>
                        <a:t>        } </a:t>
                      </a:r>
                    </a:p>
                    <a:p>
                      <a:r>
                        <a:rPr lang="en-US" dirty="0"/>
                        <a:t>        catch (</a:t>
                      </a:r>
                      <a:r>
                        <a:rPr lang="en-US" dirty="0" err="1"/>
                        <a:t>ArithmeticException</a:t>
                      </a:r>
                      <a:r>
                        <a:rPr lang="en-US" dirty="0"/>
                        <a:t> e) {</a:t>
                      </a:r>
                    </a:p>
                    <a:p>
                      <a:r>
                        <a:rPr lang="en-US" dirty="0"/>
                        <a:t>            </a:t>
                      </a:r>
                      <a:r>
                        <a:rPr lang="en-US" dirty="0" err="1"/>
                        <a:t>System.out.println</a:t>
                      </a:r>
                      <a:r>
                        <a:rPr lang="en-US" dirty="0"/>
                        <a:t>("Error occurred!");</a:t>
                      </a:r>
                    </a:p>
                    <a:p>
                      <a:r>
                        <a:rPr lang="en-US" dirty="0"/>
                        <a:t>        } </a:t>
                      </a:r>
                    </a:p>
                    <a:p>
                      <a:r>
                        <a:rPr lang="en-US" dirty="0"/>
                        <a:t>        finally {</a:t>
                      </a:r>
                    </a:p>
                    <a:p>
                      <a:r>
                        <a:rPr lang="en-US" dirty="0"/>
                        <a:t>            </a:t>
                      </a:r>
                      <a:r>
                        <a:rPr lang="en-US" dirty="0" err="1"/>
                        <a:t>System.out.println</a:t>
                      </a:r>
                      <a:r>
                        <a:rPr lang="en-US" dirty="0"/>
                        <a:t>("Cleaning up resources (finally block)");</a:t>
                      </a:r>
                    </a:p>
                    <a:p>
                      <a:r>
                        <a:rPr lang="en-US" dirty="0"/>
                        <a:t>        }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        </a:t>
                      </a:r>
                      <a:r>
                        <a:rPr lang="en-US" dirty="0" err="1"/>
                        <a:t>System.out.println</a:t>
                      </a:r>
                      <a:r>
                        <a:rPr lang="en-US" dirty="0"/>
                        <a:t>("Program continues...");</a:t>
                      </a:r>
                    </a:p>
                    <a:p>
                      <a:r>
                        <a:rPr lang="en-US" dirty="0"/>
                        <a:t>    }</a:t>
                      </a:r>
                    </a:p>
                    <a:p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825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3129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ands on keyboard and mouse">
            <a:extLst>
              <a:ext uri="{FF2B5EF4-FFF2-40B4-BE49-F238E27FC236}">
                <a16:creationId xmlns:a16="http://schemas.microsoft.com/office/drawing/2014/main" id="{3E0DA570-EC51-8310-30B4-EF1D67F4C8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358" r="12308" b="-1"/>
          <a:stretch>
            <a:fillRect/>
          </a:stretch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95777C-F891-6B7C-FB0C-6DD7B23BA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3200"/>
              <a:t>Key Insight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98C191-357B-ED09-58AD-F8E2D518AC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00493" y="1732449"/>
            <a:ext cx="4403596" cy="405875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try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 → risky code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catch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 → handle error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finally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 →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always runs (important work)</a:t>
            </a:r>
            <a:endParaRPr lang="en-US" altLang="en-US" sz="1800" b="1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lang="en-US" sz="1800" dirty="0"/>
              <a:t>You open a file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lang="en-US" sz="1800" dirty="0"/>
              <a:t>Even if error happens, you must </a:t>
            </a:r>
            <a:r>
              <a:rPr lang="en-US" sz="1800" b="1" dirty="0"/>
              <a:t>close it</a:t>
            </a:r>
            <a:r>
              <a:rPr lang="en-US" sz="1800" dirty="0"/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46189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53F81-70ED-7D4A-1E67-F38AAFE04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3723519" cy="970450"/>
          </a:xfrm>
        </p:spPr>
        <p:txBody>
          <a:bodyPr/>
          <a:lstStyle/>
          <a:p>
            <a:r>
              <a:rPr lang="en-US" dirty="0"/>
              <a:t>Throw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09A37-713A-4B5C-FF85-9C3630617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2711148" cy="4058751"/>
          </a:xfrm>
        </p:spPr>
        <p:txBody>
          <a:bodyPr/>
          <a:lstStyle/>
          <a:p>
            <a:r>
              <a:rPr lang="en-US" dirty="0"/>
              <a:t>Used to </a:t>
            </a:r>
            <a:r>
              <a:rPr lang="en-US" b="1" dirty="0"/>
              <a:t>manually create an exception</a:t>
            </a:r>
          </a:p>
          <a:p>
            <a:r>
              <a:rPr lang="en-US" dirty="0"/>
              <a:t>Used when you want to enforce rules in your class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0ABDFB2-2E0B-DA5E-491F-667F5A670D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921729"/>
              </p:ext>
            </p:extLst>
          </p:nvPr>
        </p:nvGraphicFramePr>
        <p:xfrm>
          <a:off x="5284042" y="1732449"/>
          <a:ext cx="5547244" cy="42062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547244">
                  <a:extLst>
                    <a:ext uri="{9D8B030D-6E8A-4147-A177-3AD203B41FA5}">
                      <a16:colId xmlns:a16="http://schemas.microsoft.com/office/drawing/2014/main" val="27122510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public class Main {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    static void </a:t>
                      </a:r>
                      <a:r>
                        <a:rPr lang="en-US" dirty="0" err="1"/>
                        <a:t>checkAge</a:t>
                      </a:r>
                      <a:r>
                        <a:rPr lang="en-US" dirty="0"/>
                        <a:t>(int age) {</a:t>
                      </a:r>
                    </a:p>
                    <a:p>
                      <a:r>
                        <a:rPr lang="en-US" dirty="0"/>
                        <a:t>        if (age &lt; 18) {</a:t>
                      </a:r>
                    </a:p>
                    <a:p>
                      <a:r>
                        <a:rPr lang="en-US" dirty="0"/>
                        <a:t>            throw new </a:t>
                      </a:r>
                      <a:r>
                        <a:rPr lang="en-US" dirty="0" err="1"/>
                        <a:t>ArithmeticException</a:t>
                      </a:r>
                      <a:r>
                        <a:rPr lang="en-US" dirty="0"/>
                        <a:t>("Not allowed: Age is less than 18");</a:t>
                      </a:r>
                    </a:p>
                    <a:p>
                      <a:r>
                        <a:rPr lang="en-US" dirty="0"/>
                        <a:t>        } else {</a:t>
                      </a:r>
                    </a:p>
                    <a:p>
                      <a:r>
                        <a:rPr lang="en-US" dirty="0"/>
                        <a:t>            </a:t>
                      </a:r>
                      <a:r>
                        <a:rPr lang="en-US" dirty="0" err="1"/>
                        <a:t>System.out.println</a:t>
                      </a:r>
                      <a:r>
                        <a:rPr lang="en-US" dirty="0"/>
                        <a:t>("Access granted");</a:t>
                      </a:r>
                    </a:p>
                    <a:p>
                      <a:r>
                        <a:rPr lang="en-US" dirty="0"/>
                        <a:t>        }</a:t>
                      </a:r>
                    </a:p>
                    <a:p>
                      <a:r>
                        <a:rPr lang="en-US" dirty="0"/>
                        <a:t>    }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    public static void main(String[] </a:t>
                      </a:r>
                      <a:r>
                        <a:rPr lang="en-US" dirty="0" err="1"/>
                        <a:t>args</a:t>
                      </a:r>
                      <a:r>
                        <a:rPr lang="en-US" dirty="0"/>
                        <a:t>) {</a:t>
                      </a:r>
                    </a:p>
                    <a:p>
                      <a:r>
                        <a:rPr lang="en-US" dirty="0"/>
                        <a:t>        </a:t>
                      </a:r>
                      <a:r>
                        <a:rPr lang="en-US" dirty="0" err="1"/>
                        <a:t>checkAge</a:t>
                      </a:r>
                      <a:r>
                        <a:rPr lang="en-US" dirty="0"/>
                        <a:t>(16);</a:t>
                      </a:r>
                    </a:p>
                    <a:p>
                      <a:r>
                        <a:rPr lang="en-US" dirty="0"/>
                        <a:t>    }</a:t>
                      </a:r>
                    </a:p>
                    <a:p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068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78767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F272-4479-99F6-17FD-51C89283A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3995662" cy="970450"/>
          </a:xfrm>
        </p:spPr>
        <p:txBody>
          <a:bodyPr/>
          <a:lstStyle/>
          <a:p>
            <a:r>
              <a:rPr lang="en-US" dirty="0"/>
              <a:t>Throws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81D9F-559A-443F-C06F-D28AB662A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3484034" cy="4058751"/>
          </a:xfrm>
        </p:spPr>
        <p:txBody>
          <a:bodyPr>
            <a:normAutofit/>
          </a:bodyPr>
          <a:lstStyle/>
          <a:p>
            <a:r>
              <a:rPr lang="en-US" dirty="0"/>
              <a:t>Used to </a:t>
            </a:r>
            <a:r>
              <a:rPr lang="en-US" b="1" dirty="0"/>
              <a:t>inform caller that method may throw exception</a:t>
            </a:r>
          </a:p>
          <a:p>
            <a:r>
              <a:rPr lang="en-US" altLang="en-US" b="1" dirty="0"/>
              <a:t>We did NOT use throw </a:t>
            </a:r>
          </a:p>
          <a:p>
            <a:r>
              <a:rPr lang="en-US" altLang="en-US" b="1" dirty="0"/>
              <a:t>But Java methods like </a:t>
            </a:r>
            <a:r>
              <a:rPr lang="en-US" altLang="en-US" b="1" dirty="0" err="1"/>
              <a:t>FileReader</a:t>
            </a:r>
            <a:r>
              <a:rPr lang="en-US" altLang="en-US" b="1" dirty="0"/>
              <a:t> may cause errors internally </a:t>
            </a:r>
          </a:p>
          <a:p>
            <a:r>
              <a:rPr lang="en-US" altLang="en-US" b="1" dirty="0"/>
              <a:t>So we use throws </a:t>
            </a:r>
            <a:r>
              <a:rPr lang="en-US" altLang="en-US" b="1" dirty="0" err="1"/>
              <a:t>IOException</a:t>
            </a:r>
            <a:r>
              <a:rPr lang="en-US" altLang="en-US" b="1" dirty="0"/>
              <a:t> to pass responsibility </a:t>
            </a:r>
          </a:p>
          <a:p>
            <a:endParaRPr lang="en-US" b="1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A378DE-F964-1B5E-05C0-09BCC337C4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0063461"/>
              </p:ext>
            </p:extLst>
          </p:nvPr>
        </p:nvGraphicFramePr>
        <p:xfrm>
          <a:off x="5580743" y="1580050"/>
          <a:ext cx="5283200" cy="39319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283200">
                  <a:extLst>
                    <a:ext uri="{9D8B030D-6E8A-4147-A177-3AD203B41FA5}">
                      <a16:colId xmlns:a16="http://schemas.microsoft.com/office/drawing/2014/main" val="30764341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import java.io.*;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public class Main {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    static void </a:t>
                      </a:r>
                      <a:r>
                        <a:rPr lang="en-US" sz="1400" dirty="0" err="1"/>
                        <a:t>readData</a:t>
                      </a:r>
                      <a:r>
                        <a:rPr lang="en-US" sz="1400" dirty="0"/>
                        <a:t>() throws </a:t>
                      </a:r>
                      <a:r>
                        <a:rPr lang="en-US" sz="1400" dirty="0" err="1"/>
                        <a:t>IOException</a:t>
                      </a:r>
                      <a:r>
                        <a:rPr lang="en-US" sz="1400" dirty="0"/>
                        <a:t> {</a:t>
                      </a:r>
                    </a:p>
                    <a:p>
                      <a:r>
                        <a:rPr lang="en-US" sz="1400" dirty="0"/>
                        <a:t>        </a:t>
                      </a:r>
                      <a:r>
                        <a:rPr lang="en-US" sz="1400" dirty="0" err="1"/>
                        <a:t>FileReader</a:t>
                      </a:r>
                      <a:r>
                        <a:rPr lang="en-US" sz="1400" dirty="0"/>
                        <a:t> file = new </a:t>
                      </a:r>
                      <a:r>
                        <a:rPr lang="en-US" sz="1400" dirty="0" err="1"/>
                        <a:t>FileReader</a:t>
                      </a:r>
                      <a:r>
                        <a:rPr lang="en-US" sz="1400" dirty="0"/>
                        <a:t>("test.txt");</a:t>
                      </a:r>
                    </a:p>
                    <a:p>
                      <a:r>
                        <a:rPr lang="en-US" sz="1400" dirty="0"/>
                        <a:t>        </a:t>
                      </a:r>
                      <a:r>
                        <a:rPr lang="en-US" sz="1400" dirty="0" err="1"/>
                        <a:t>file.read</a:t>
                      </a:r>
                      <a:r>
                        <a:rPr lang="en-US" sz="1400" dirty="0"/>
                        <a:t>();</a:t>
                      </a:r>
                    </a:p>
                    <a:p>
                      <a:r>
                        <a:rPr lang="en-US" sz="1400" dirty="0"/>
                        <a:t>        </a:t>
                      </a:r>
                      <a:r>
                        <a:rPr lang="en-US" sz="1400" dirty="0" err="1"/>
                        <a:t>file.close</a:t>
                      </a:r>
                      <a:r>
                        <a:rPr lang="en-US" sz="1400" dirty="0"/>
                        <a:t>();</a:t>
                      </a:r>
                    </a:p>
                    <a:p>
                      <a:r>
                        <a:rPr lang="en-US" sz="1400" dirty="0"/>
                        <a:t>    }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    public static void main(String[] </a:t>
                      </a:r>
                      <a:r>
                        <a:rPr lang="en-US" sz="1400" dirty="0" err="1"/>
                        <a:t>args</a:t>
                      </a:r>
                      <a:r>
                        <a:rPr lang="en-US" sz="1400" dirty="0"/>
                        <a:t>) {</a:t>
                      </a:r>
                    </a:p>
                    <a:p>
                      <a:r>
                        <a:rPr lang="en-US" sz="1400" dirty="0"/>
                        <a:t>        try {</a:t>
                      </a:r>
                    </a:p>
                    <a:p>
                      <a:r>
                        <a:rPr lang="en-US" sz="1400" dirty="0"/>
                        <a:t>            </a:t>
                      </a:r>
                      <a:r>
                        <a:rPr lang="en-US" sz="1400" dirty="0" err="1"/>
                        <a:t>readData</a:t>
                      </a:r>
                      <a:r>
                        <a:rPr lang="en-US" sz="1400" dirty="0"/>
                        <a:t>();</a:t>
                      </a:r>
                    </a:p>
                    <a:p>
                      <a:r>
                        <a:rPr lang="en-US" sz="1400" dirty="0"/>
                        <a:t>        } catch (</a:t>
                      </a:r>
                      <a:r>
                        <a:rPr lang="en-US" sz="1400" dirty="0" err="1"/>
                        <a:t>IOException</a:t>
                      </a:r>
                      <a:r>
                        <a:rPr lang="en-US" sz="1400" dirty="0"/>
                        <a:t> e) {</a:t>
                      </a:r>
                    </a:p>
                    <a:p>
                      <a:r>
                        <a:rPr lang="en-US" sz="1400" dirty="0"/>
                        <a:t>            </a:t>
                      </a:r>
                      <a:r>
                        <a:rPr lang="en-US" sz="1400" dirty="0" err="1"/>
                        <a:t>System.out.println</a:t>
                      </a:r>
                      <a:r>
                        <a:rPr lang="en-US" sz="1400" dirty="0"/>
                        <a:t>("File error occurred");</a:t>
                      </a:r>
                    </a:p>
                    <a:p>
                      <a:r>
                        <a:rPr lang="en-US" sz="1400" dirty="0"/>
                        <a:t>        }</a:t>
                      </a:r>
                    </a:p>
                    <a:p>
                      <a:r>
                        <a:rPr lang="en-US" sz="1400" dirty="0"/>
                        <a:t>    }</a:t>
                      </a:r>
                    </a:p>
                    <a:p>
                      <a:r>
                        <a:rPr lang="en-US" sz="1400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870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75944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9DBCC-181C-B275-F376-EAA365479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a nutshell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315FA-0EAB-AFAE-B142-AC673779E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throw = "I am throwing error”</a:t>
            </a:r>
          </a:p>
          <a:p>
            <a:r>
              <a:rPr lang="en-US" b="1" dirty="0"/>
              <a:t>throws = "I may throw error“</a:t>
            </a:r>
          </a:p>
          <a:p>
            <a:r>
              <a:rPr lang="en-US" altLang="en-US" b="1" dirty="0"/>
              <a:t>throw → used only when you manually force an error </a:t>
            </a:r>
            <a:endParaRPr lang="en-US" b="1" dirty="0"/>
          </a:p>
          <a:p>
            <a:r>
              <a:rPr lang="en-US" altLang="en-US" b="1" dirty="0"/>
              <a:t>throws → used even if exception is automatic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2045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A6ABF-2841-51B8-61C6-332AD7E8A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96" y="653143"/>
            <a:ext cx="5127776" cy="970450"/>
          </a:xfrm>
        </p:spPr>
        <p:txBody>
          <a:bodyPr>
            <a:normAutofit/>
          </a:bodyPr>
          <a:lstStyle/>
          <a:p>
            <a:r>
              <a:rPr lang="en-US" sz="3200" dirty="0"/>
              <a:t>Throw and throws together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7385BE8-045E-DCFB-5D78-1920A01FE6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1320399"/>
              </p:ext>
            </p:extLst>
          </p:nvPr>
        </p:nvGraphicFramePr>
        <p:xfrm>
          <a:off x="5203372" y="1623593"/>
          <a:ext cx="6368142" cy="49987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6368142">
                  <a:extLst>
                    <a:ext uri="{9D8B030D-6E8A-4147-A177-3AD203B41FA5}">
                      <a16:colId xmlns:a16="http://schemas.microsoft.com/office/drawing/2014/main" val="37458588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public class Main {</a:t>
                      </a:r>
                    </a:p>
                    <a:p>
                      <a:r>
                        <a:rPr lang="en-US" sz="1400" dirty="0"/>
                        <a:t>    // declares possible exception</a:t>
                      </a:r>
                    </a:p>
                    <a:p>
                      <a:r>
                        <a:rPr lang="en-US" sz="1400" dirty="0"/>
                        <a:t>    static void </a:t>
                      </a:r>
                      <a:r>
                        <a:rPr lang="en-US" sz="1400" dirty="0" err="1"/>
                        <a:t>checkMarks</a:t>
                      </a:r>
                      <a:r>
                        <a:rPr lang="en-US" sz="1400" dirty="0"/>
                        <a:t>(int marks) throws Exception {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        // manually creating exception</a:t>
                      </a:r>
                    </a:p>
                    <a:p>
                      <a:r>
                        <a:rPr lang="en-US" sz="1400" dirty="0"/>
                        <a:t>        if (marks &lt; 0 || marks &gt; 100) {</a:t>
                      </a:r>
                    </a:p>
                    <a:p>
                      <a:r>
                        <a:rPr lang="en-US" sz="1400" dirty="0"/>
                        <a:t>            throw new Exception("Invalid marks entered!");</a:t>
                      </a:r>
                    </a:p>
                    <a:p>
                      <a:r>
                        <a:rPr lang="en-US" sz="1400" dirty="0"/>
                        <a:t>        }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        </a:t>
                      </a:r>
                      <a:r>
                        <a:rPr lang="en-US" sz="1400" dirty="0" err="1"/>
                        <a:t>System.out.println</a:t>
                      </a:r>
                      <a:r>
                        <a:rPr lang="en-US" sz="1400" dirty="0"/>
                        <a:t>("Valid marks: " + marks);</a:t>
                      </a:r>
                    </a:p>
                    <a:p>
                      <a:r>
                        <a:rPr lang="en-US" sz="1400" dirty="0"/>
                        <a:t>    }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    public static void main(String[] </a:t>
                      </a:r>
                      <a:r>
                        <a:rPr lang="en-US" sz="1400" dirty="0" err="1"/>
                        <a:t>args</a:t>
                      </a:r>
                      <a:r>
                        <a:rPr lang="en-US" sz="1400" dirty="0"/>
                        <a:t>) {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        try {</a:t>
                      </a:r>
                    </a:p>
                    <a:p>
                      <a:r>
                        <a:rPr lang="en-US" sz="1400" dirty="0"/>
                        <a:t>            </a:t>
                      </a:r>
                      <a:r>
                        <a:rPr lang="en-US" sz="1400" dirty="0" err="1"/>
                        <a:t>checkMarks</a:t>
                      </a:r>
                      <a:r>
                        <a:rPr lang="en-US" sz="1400" dirty="0"/>
                        <a:t>(120);</a:t>
                      </a:r>
                    </a:p>
                    <a:p>
                      <a:r>
                        <a:rPr lang="en-US" sz="1400" dirty="0"/>
                        <a:t>        } catch (Exception e) {</a:t>
                      </a:r>
                    </a:p>
                    <a:p>
                      <a:r>
                        <a:rPr lang="en-US" sz="1400" dirty="0"/>
                        <a:t>            </a:t>
                      </a:r>
                      <a:r>
                        <a:rPr lang="en-US" sz="1400" dirty="0" err="1"/>
                        <a:t>System.out.println</a:t>
                      </a:r>
                      <a:r>
                        <a:rPr lang="en-US" sz="1400" dirty="0"/>
                        <a:t>(</a:t>
                      </a:r>
                      <a:r>
                        <a:rPr lang="en-US" sz="1400" dirty="0" err="1"/>
                        <a:t>e.getMessage</a:t>
                      </a:r>
                      <a:r>
                        <a:rPr lang="en-US" sz="1400" dirty="0"/>
                        <a:t>());</a:t>
                      </a:r>
                    </a:p>
                    <a:p>
                      <a:r>
                        <a:rPr lang="en-US" sz="1400" dirty="0"/>
                        <a:t>        }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        </a:t>
                      </a:r>
                      <a:r>
                        <a:rPr lang="en-US" sz="1400" dirty="0" err="1"/>
                        <a:t>System.out.println</a:t>
                      </a:r>
                      <a:r>
                        <a:rPr lang="en-US" sz="1400" dirty="0"/>
                        <a:t>("Program continues...");</a:t>
                      </a:r>
                    </a:p>
                    <a:p>
                      <a:r>
                        <a:rPr lang="en-US" sz="1400" dirty="0"/>
                        <a:t>    }</a:t>
                      </a:r>
                    </a:p>
                    <a:p>
                      <a:r>
                        <a:rPr lang="en-US" sz="1400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042960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8480973-69E7-8C80-AB3E-C90861F9717B}"/>
              </a:ext>
            </a:extLst>
          </p:cNvPr>
          <p:cNvSpPr txBox="1"/>
          <p:nvPr/>
        </p:nvSpPr>
        <p:spPr>
          <a:xfrm>
            <a:off x="1099457" y="1897521"/>
            <a:ext cx="3124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throws = warning</a:t>
            </a:r>
          </a:p>
          <a:p>
            <a:r>
              <a:rPr lang="en-US" dirty="0"/>
              <a:t>throw = action</a:t>
            </a:r>
          </a:p>
        </p:txBody>
      </p:sp>
    </p:spTree>
    <p:extLst>
      <p:ext uri="{BB962C8B-B14F-4D97-AF65-F5344CB8AC3E}">
        <p14:creationId xmlns:p14="http://schemas.microsoft.com/office/powerpoint/2010/main" val="2721635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5DDFA-6196-04FD-0173-EB60995B2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43" y="609599"/>
            <a:ext cx="3413156" cy="5273675"/>
          </a:xfrm>
        </p:spPr>
        <p:txBody>
          <a:bodyPr>
            <a:normAutofit/>
          </a:bodyPr>
          <a:lstStyle/>
          <a:p>
            <a:r>
              <a:rPr lang="en-US" dirty="0"/>
              <a:t>Real-life Example 01 – Banking System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77D423-FE81-4236-89DE-39776B810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641" y="609599"/>
            <a:ext cx="6889687" cy="5273675"/>
          </a:xfrm>
          <a:prstGeom prst="rect">
            <a:avLst/>
          </a:prstGeom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BDC329A-BFBD-8211-5309-40A8435CFA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1041055"/>
              </p:ext>
            </p:extLst>
          </p:nvPr>
        </p:nvGraphicFramePr>
        <p:xfrm>
          <a:off x="5081750" y="887213"/>
          <a:ext cx="6062315" cy="4914936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6062315">
                  <a:extLst>
                    <a:ext uri="{9D8B030D-6E8A-4147-A177-3AD203B41FA5}">
                      <a16:colId xmlns:a16="http://schemas.microsoft.com/office/drawing/2014/main" val="3630674903"/>
                    </a:ext>
                  </a:extLst>
                </a:gridCol>
              </a:tblGrid>
              <a:tr h="4718448">
                <a:tc>
                  <a:txBody>
                    <a:bodyPr/>
                    <a:lstStyle/>
                    <a:p>
                      <a:r>
                        <a:rPr lang="en-US" sz="1100" dirty="0"/>
                        <a:t>class </a:t>
                      </a:r>
                      <a:r>
                        <a:rPr lang="en-US" sz="1100" dirty="0" err="1"/>
                        <a:t>BankAccount</a:t>
                      </a:r>
                      <a:r>
                        <a:rPr lang="en-US" sz="1100" dirty="0"/>
                        <a:t> {</a:t>
                      </a:r>
                    </a:p>
                    <a:p>
                      <a:r>
                        <a:rPr lang="en-US" sz="1100" dirty="0"/>
                        <a:t>    int balance = 1000;</a:t>
                      </a:r>
                    </a:p>
                    <a:p>
                      <a:endParaRPr lang="en-US" sz="1100" dirty="0"/>
                    </a:p>
                    <a:p>
                      <a:r>
                        <a:rPr lang="en-US" sz="1100" dirty="0"/>
                        <a:t>    void withdraw(int amount) {</a:t>
                      </a:r>
                    </a:p>
                    <a:p>
                      <a:r>
                        <a:rPr lang="en-US" sz="1100" dirty="0"/>
                        <a:t>        try {</a:t>
                      </a:r>
                    </a:p>
                    <a:p>
                      <a:r>
                        <a:rPr lang="en-US" sz="1100" dirty="0"/>
                        <a:t>            if (amount &gt; balance) {</a:t>
                      </a:r>
                    </a:p>
                    <a:p>
                      <a:r>
                        <a:rPr lang="en-US" sz="1100" dirty="0"/>
                        <a:t>                throw new Exception("Insufficient balance!");</a:t>
                      </a:r>
                    </a:p>
                    <a:p>
                      <a:r>
                        <a:rPr lang="en-US" sz="1100" dirty="0"/>
                        <a:t>            }</a:t>
                      </a:r>
                    </a:p>
                    <a:p>
                      <a:r>
                        <a:rPr lang="en-US" sz="1100" dirty="0"/>
                        <a:t>            balance -= amount;</a:t>
                      </a:r>
                    </a:p>
                    <a:p>
                      <a:r>
                        <a:rPr lang="en-US" sz="1100" dirty="0"/>
                        <a:t>            </a:t>
                      </a:r>
                      <a:r>
                        <a:rPr lang="en-US" sz="1100" dirty="0" err="1"/>
                        <a:t>System.out.println</a:t>
                      </a:r>
                      <a:r>
                        <a:rPr lang="en-US" sz="1100" dirty="0"/>
                        <a:t>("Withdraw successful. Remaining balance: " + balance);</a:t>
                      </a:r>
                    </a:p>
                    <a:p>
                      <a:r>
                        <a:rPr lang="en-US" sz="1100" dirty="0"/>
                        <a:t>        } </a:t>
                      </a:r>
                    </a:p>
                    <a:p>
                      <a:r>
                        <a:rPr lang="en-US" sz="1100" dirty="0"/>
                        <a:t>        catch (Exception e) {</a:t>
                      </a:r>
                    </a:p>
                    <a:p>
                      <a:r>
                        <a:rPr lang="en-US" sz="1100" dirty="0"/>
                        <a:t>            </a:t>
                      </a:r>
                      <a:r>
                        <a:rPr lang="en-US" sz="1100" dirty="0" err="1"/>
                        <a:t>System.out.println</a:t>
                      </a:r>
                      <a:r>
                        <a:rPr lang="en-US" sz="1100" dirty="0"/>
                        <a:t>(</a:t>
                      </a:r>
                      <a:r>
                        <a:rPr lang="en-US" sz="1100" dirty="0" err="1"/>
                        <a:t>e.getMessage</a:t>
                      </a:r>
                      <a:r>
                        <a:rPr lang="en-US" sz="1100" dirty="0"/>
                        <a:t>());</a:t>
                      </a:r>
                    </a:p>
                    <a:p>
                      <a:r>
                        <a:rPr lang="en-US" sz="1100" dirty="0"/>
                        <a:t>        } </a:t>
                      </a:r>
                    </a:p>
                    <a:p>
                      <a:r>
                        <a:rPr lang="en-US" sz="1100" dirty="0"/>
                        <a:t>        finally {</a:t>
                      </a:r>
                    </a:p>
                    <a:p>
                      <a:r>
                        <a:rPr lang="en-US" sz="1100" dirty="0"/>
                        <a:t>            </a:t>
                      </a:r>
                      <a:r>
                        <a:rPr lang="en-US" sz="1100" dirty="0" err="1"/>
                        <a:t>System.out.println</a:t>
                      </a:r>
                      <a:r>
                        <a:rPr lang="en-US" sz="1100" dirty="0"/>
                        <a:t>("Take your card");</a:t>
                      </a:r>
                    </a:p>
                    <a:p>
                      <a:r>
                        <a:rPr lang="en-US" sz="1100" dirty="0"/>
                        <a:t>        }</a:t>
                      </a:r>
                    </a:p>
                    <a:p>
                      <a:r>
                        <a:rPr lang="en-US" sz="1100" dirty="0"/>
                        <a:t>    }</a:t>
                      </a:r>
                    </a:p>
                    <a:p>
                      <a:r>
                        <a:rPr lang="en-US" sz="1100" dirty="0"/>
                        <a:t>}</a:t>
                      </a:r>
                    </a:p>
                    <a:p>
                      <a:endParaRPr lang="en-US" sz="1100" dirty="0"/>
                    </a:p>
                    <a:p>
                      <a:r>
                        <a:rPr lang="en-US" sz="1100" dirty="0"/>
                        <a:t>public class Main {</a:t>
                      </a:r>
                    </a:p>
                    <a:p>
                      <a:r>
                        <a:rPr lang="en-US" sz="1100" dirty="0"/>
                        <a:t>    public static void main(String[] </a:t>
                      </a:r>
                      <a:r>
                        <a:rPr lang="en-US" sz="1100" dirty="0" err="1"/>
                        <a:t>args</a:t>
                      </a:r>
                      <a:r>
                        <a:rPr lang="en-US" sz="1100" dirty="0"/>
                        <a:t>) {</a:t>
                      </a:r>
                    </a:p>
                    <a:p>
                      <a:r>
                        <a:rPr lang="en-US" sz="1100" dirty="0"/>
                        <a:t>        </a:t>
                      </a:r>
                      <a:r>
                        <a:rPr lang="en-US" sz="1100" dirty="0" err="1"/>
                        <a:t>BankAccount</a:t>
                      </a:r>
                      <a:r>
                        <a:rPr lang="en-US" sz="1100" dirty="0"/>
                        <a:t> acc = new </a:t>
                      </a:r>
                      <a:r>
                        <a:rPr lang="en-US" sz="1100" dirty="0" err="1"/>
                        <a:t>BankAccount</a:t>
                      </a:r>
                      <a:r>
                        <a:rPr lang="en-US" sz="1100" dirty="0"/>
                        <a:t>();</a:t>
                      </a:r>
                    </a:p>
                    <a:p>
                      <a:r>
                        <a:rPr lang="en-US" sz="1100" dirty="0"/>
                        <a:t>        </a:t>
                      </a:r>
                    </a:p>
                    <a:p>
                      <a:r>
                        <a:rPr lang="en-US" sz="1100" dirty="0"/>
                        <a:t>        </a:t>
                      </a:r>
                      <a:r>
                        <a:rPr lang="en-US" sz="1100" dirty="0" err="1"/>
                        <a:t>acc.withdraw</a:t>
                      </a:r>
                      <a:r>
                        <a:rPr lang="en-US" sz="1100" dirty="0"/>
                        <a:t>(500);</a:t>
                      </a:r>
                    </a:p>
                    <a:p>
                      <a:r>
                        <a:rPr lang="en-US" sz="1100" dirty="0"/>
                        <a:t>        </a:t>
                      </a:r>
                      <a:r>
                        <a:rPr lang="en-US" sz="1100" dirty="0" err="1"/>
                        <a:t>System.out.println</a:t>
                      </a:r>
                      <a:r>
                        <a:rPr lang="en-US" sz="1100" dirty="0"/>
                        <a:t>("-----------------");</a:t>
                      </a:r>
                    </a:p>
                    <a:p>
                      <a:r>
                        <a:rPr lang="en-US" sz="1100" dirty="0"/>
                        <a:t>        </a:t>
                      </a:r>
                      <a:r>
                        <a:rPr lang="en-US" sz="1100" dirty="0" err="1"/>
                        <a:t>acc.withdraw</a:t>
                      </a:r>
                      <a:r>
                        <a:rPr lang="en-US" sz="1100" dirty="0"/>
                        <a:t>(1500);</a:t>
                      </a:r>
                    </a:p>
                    <a:p>
                      <a:r>
                        <a:rPr lang="en-US" sz="1100" dirty="0"/>
                        <a:t>    }</a:t>
                      </a:r>
                    </a:p>
                    <a:p>
                      <a:r>
                        <a:rPr lang="en-US" sz="1100" dirty="0"/>
                        <a:t>}</a:t>
                      </a:r>
                    </a:p>
                  </a:txBody>
                  <a:tcPr marL="53376" marR="53376" marT="26688" marB="26688"/>
                </a:tc>
                <a:extLst>
                  <a:ext uri="{0D108BD9-81ED-4DB2-BD59-A6C34878D82A}">
                    <a16:rowId xmlns:a16="http://schemas.microsoft.com/office/drawing/2014/main" val="3962270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12317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532637-6749-73E4-F092-FBFA34A11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43622-0413-946B-C98E-87A13D64E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43" y="609599"/>
            <a:ext cx="3413156" cy="5273675"/>
          </a:xfrm>
        </p:spPr>
        <p:txBody>
          <a:bodyPr>
            <a:normAutofit/>
          </a:bodyPr>
          <a:lstStyle/>
          <a:p>
            <a:r>
              <a:rPr lang="en-US" dirty="0"/>
              <a:t>Real-life Example 02 – Shopping Cart System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C2C400-3ABC-E04C-D1E7-90F4D8F09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641" y="609599"/>
            <a:ext cx="6889687" cy="5273675"/>
          </a:xfrm>
          <a:prstGeom prst="rect">
            <a:avLst/>
          </a:prstGeom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F03FB3D-FC6D-3BFD-DF8F-CD5F78CC95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1515437"/>
              </p:ext>
            </p:extLst>
          </p:nvPr>
        </p:nvGraphicFramePr>
        <p:xfrm>
          <a:off x="5081750" y="887213"/>
          <a:ext cx="6062315" cy="4747296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6062315">
                  <a:extLst>
                    <a:ext uri="{9D8B030D-6E8A-4147-A177-3AD203B41FA5}">
                      <a16:colId xmlns:a16="http://schemas.microsoft.com/office/drawing/2014/main" val="3630674903"/>
                    </a:ext>
                  </a:extLst>
                </a:gridCol>
              </a:tblGrid>
              <a:tr h="4718448">
                <a:tc>
                  <a:txBody>
                    <a:bodyPr/>
                    <a:lstStyle/>
                    <a:p>
                      <a:r>
                        <a:rPr lang="en-US" sz="1400" dirty="0"/>
                        <a:t>class Cart {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    void checkout(int items) {</a:t>
                      </a:r>
                    </a:p>
                    <a:p>
                      <a:r>
                        <a:rPr lang="en-US" sz="1400" dirty="0"/>
                        <a:t>        try {</a:t>
                      </a:r>
                    </a:p>
                    <a:p>
                      <a:r>
                        <a:rPr lang="en-US" sz="1400" dirty="0"/>
                        <a:t>            if (items &lt;= 0) {</a:t>
                      </a:r>
                    </a:p>
                    <a:p>
                      <a:r>
                        <a:rPr lang="en-US" sz="1400" dirty="0"/>
                        <a:t>                throw new Exception("Cart is empty!");</a:t>
                      </a:r>
                    </a:p>
                    <a:p>
                      <a:r>
                        <a:rPr lang="en-US" sz="1400" dirty="0"/>
                        <a:t>            }</a:t>
                      </a:r>
                    </a:p>
                    <a:p>
                      <a:r>
                        <a:rPr lang="en-US" sz="1400" dirty="0"/>
                        <a:t>            </a:t>
                      </a:r>
                      <a:r>
                        <a:rPr lang="en-US" sz="1400" dirty="0" err="1"/>
                        <a:t>System.out.println</a:t>
                      </a:r>
                      <a:r>
                        <a:rPr lang="en-US" sz="1400" dirty="0"/>
                        <a:t>("Order placed for " + items + " items");</a:t>
                      </a:r>
                    </a:p>
                    <a:p>
                      <a:r>
                        <a:rPr lang="en-US" sz="1400" dirty="0"/>
                        <a:t>        } </a:t>
                      </a:r>
                    </a:p>
                    <a:p>
                      <a:r>
                        <a:rPr lang="en-US" sz="1400" dirty="0"/>
                        <a:t>        catch (Exception e) {</a:t>
                      </a:r>
                    </a:p>
                    <a:p>
                      <a:r>
                        <a:rPr lang="en-US" sz="1400" dirty="0"/>
                        <a:t>            </a:t>
                      </a:r>
                      <a:r>
                        <a:rPr lang="en-US" sz="1400" dirty="0" err="1"/>
                        <a:t>System.out.println</a:t>
                      </a:r>
                      <a:r>
                        <a:rPr lang="en-US" sz="1400" dirty="0"/>
                        <a:t>(</a:t>
                      </a:r>
                      <a:r>
                        <a:rPr lang="en-US" sz="1400" dirty="0" err="1"/>
                        <a:t>e.getMessage</a:t>
                      </a:r>
                      <a:r>
                        <a:rPr lang="en-US" sz="1400" dirty="0"/>
                        <a:t>());</a:t>
                      </a:r>
                    </a:p>
                    <a:p>
                      <a:r>
                        <a:rPr lang="en-US" sz="1400" dirty="0"/>
                        <a:t>        } </a:t>
                      </a:r>
                    </a:p>
                    <a:p>
                      <a:r>
                        <a:rPr lang="en-US" sz="1400" dirty="0"/>
                        <a:t>        finally {</a:t>
                      </a:r>
                    </a:p>
                    <a:p>
                      <a:r>
                        <a:rPr lang="en-US" sz="1400" dirty="0"/>
                        <a:t>            </a:t>
                      </a:r>
                      <a:r>
                        <a:rPr lang="en-US" sz="1400" dirty="0" err="1"/>
                        <a:t>System.out.println</a:t>
                      </a:r>
                      <a:r>
                        <a:rPr lang="en-US" sz="1400" dirty="0"/>
                        <a:t>("Session closed, logout user");</a:t>
                      </a:r>
                    </a:p>
                    <a:p>
                      <a:r>
                        <a:rPr lang="en-US" sz="1400" dirty="0"/>
                        <a:t>        }</a:t>
                      </a:r>
                    </a:p>
                    <a:p>
                      <a:r>
                        <a:rPr lang="en-US" sz="1400" dirty="0"/>
                        <a:t>    }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    public static void main(String[] </a:t>
                      </a:r>
                      <a:r>
                        <a:rPr lang="en-US" sz="1400" dirty="0" err="1"/>
                        <a:t>args</a:t>
                      </a:r>
                      <a:r>
                        <a:rPr lang="en-US" sz="1400" dirty="0"/>
                        <a:t>) {</a:t>
                      </a:r>
                    </a:p>
                    <a:p>
                      <a:r>
                        <a:rPr lang="en-US" sz="1400" dirty="0"/>
                        <a:t>        Cart c = new Cart();</a:t>
                      </a:r>
                    </a:p>
                    <a:p>
                      <a:r>
                        <a:rPr lang="en-US" sz="1400" dirty="0"/>
                        <a:t>        </a:t>
                      </a:r>
                      <a:r>
                        <a:rPr lang="en-US" sz="1400" dirty="0" err="1"/>
                        <a:t>c.checkout</a:t>
                      </a:r>
                      <a:r>
                        <a:rPr lang="en-US" sz="1400" dirty="0"/>
                        <a:t>(0);</a:t>
                      </a:r>
                    </a:p>
                    <a:p>
                      <a:r>
                        <a:rPr lang="en-US" sz="1400" dirty="0"/>
                        <a:t>    }</a:t>
                      </a:r>
                    </a:p>
                    <a:p>
                      <a:r>
                        <a:rPr lang="en-US" sz="1400" dirty="0"/>
                        <a:t>}</a:t>
                      </a:r>
                    </a:p>
                  </a:txBody>
                  <a:tcPr marL="53376" marR="53376" marT="26688" marB="26688"/>
                </a:tc>
                <a:extLst>
                  <a:ext uri="{0D108BD9-81ED-4DB2-BD59-A6C34878D82A}">
                    <a16:rowId xmlns:a16="http://schemas.microsoft.com/office/drawing/2014/main" val="3962270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4051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EA93AA-9999-CABE-B057-DF8B168CD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FE38A-D8F4-8973-8A56-5C4DC8B90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43" y="609599"/>
            <a:ext cx="3413156" cy="5273675"/>
          </a:xfrm>
        </p:spPr>
        <p:txBody>
          <a:bodyPr>
            <a:normAutofit/>
          </a:bodyPr>
          <a:lstStyle/>
          <a:p>
            <a:r>
              <a:rPr lang="en-US" dirty="0"/>
              <a:t>Real-life Example 03 – Shopping Cart System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DCA16D-5B72-7863-7E82-ABF701585D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641" y="609599"/>
            <a:ext cx="6889687" cy="5273675"/>
          </a:xfrm>
          <a:prstGeom prst="rect">
            <a:avLst/>
          </a:prstGeom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25EEE06-BCBE-8854-B67B-3B20B33340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5845647"/>
              </p:ext>
            </p:extLst>
          </p:nvPr>
        </p:nvGraphicFramePr>
        <p:xfrm>
          <a:off x="5081750" y="887213"/>
          <a:ext cx="6062315" cy="4808256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6062315">
                  <a:extLst>
                    <a:ext uri="{9D8B030D-6E8A-4147-A177-3AD203B41FA5}">
                      <a16:colId xmlns:a16="http://schemas.microsoft.com/office/drawing/2014/main" val="3630674903"/>
                    </a:ext>
                  </a:extLst>
                </a:gridCol>
              </a:tblGrid>
              <a:tr h="4718448">
                <a:tc>
                  <a:txBody>
                    <a:bodyPr/>
                    <a:lstStyle/>
                    <a:p>
                      <a:r>
                        <a:rPr lang="en-US" sz="1200" dirty="0"/>
                        <a:t>class Bank {</a:t>
                      </a:r>
                    </a:p>
                    <a:p>
                      <a:endParaRPr lang="en-US" sz="1200" dirty="0"/>
                    </a:p>
                    <a:p>
                      <a:r>
                        <a:rPr lang="en-US" sz="1200" dirty="0"/>
                        <a:t>    int balance = 500;</a:t>
                      </a:r>
                    </a:p>
                    <a:p>
                      <a:endParaRPr lang="en-US" sz="1200" dirty="0"/>
                    </a:p>
                    <a:p>
                      <a:r>
                        <a:rPr lang="en-US" sz="1200" dirty="0"/>
                        <a:t>    void transfer(int amount) {</a:t>
                      </a:r>
                    </a:p>
                    <a:p>
                      <a:r>
                        <a:rPr lang="en-US" sz="1200" dirty="0"/>
                        <a:t>        try {</a:t>
                      </a:r>
                    </a:p>
                    <a:p>
                      <a:r>
                        <a:rPr lang="en-US" sz="1200" dirty="0"/>
                        <a:t>            if (amount &gt; balance) {</a:t>
                      </a:r>
                    </a:p>
                    <a:p>
                      <a:r>
                        <a:rPr lang="en-US" sz="1200" dirty="0"/>
                        <a:t>                throw new </a:t>
                      </a:r>
                      <a:r>
                        <a:rPr lang="en-US" sz="1200" dirty="0" err="1"/>
                        <a:t>ArithmeticException</a:t>
                      </a:r>
                      <a:r>
                        <a:rPr lang="en-US" sz="1200" dirty="0"/>
                        <a:t>("Not enough balance!");</a:t>
                      </a:r>
                    </a:p>
                    <a:p>
                      <a:r>
                        <a:rPr lang="en-US" sz="1200" dirty="0"/>
                        <a:t>            }</a:t>
                      </a:r>
                    </a:p>
                    <a:p>
                      <a:r>
                        <a:rPr lang="en-US" sz="1200" dirty="0"/>
                        <a:t>            balance -= amount;</a:t>
                      </a:r>
                    </a:p>
                    <a:p>
                      <a:r>
                        <a:rPr lang="en-US" sz="1200" dirty="0"/>
                        <a:t>            </a:t>
                      </a:r>
                      <a:r>
                        <a:rPr lang="en-US" sz="1200" dirty="0" err="1"/>
                        <a:t>System.out.println</a:t>
                      </a:r>
                      <a:r>
                        <a:rPr lang="en-US" sz="1200" dirty="0"/>
                        <a:t>("Transfer successful");</a:t>
                      </a:r>
                    </a:p>
                    <a:p>
                      <a:r>
                        <a:rPr lang="en-US" sz="1200" dirty="0"/>
                        <a:t>        } </a:t>
                      </a:r>
                    </a:p>
                    <a:p>
                      <a:r>
                        <a:rPr lang="en-US" sz="1200" dirty="0"/>
                        <a:t>        catch (</a:t>
                      </a:r>
                      <a:r>
                        <a:rPr lang="en-US" sz="1200" dirty="0" err="1"/>
                        <a:t>ArithmeticException</a:t>
                      </a:r>
                      <a:r>
                        <a:rPr lang="en-US" sz="1200" dirty="0"/>
                        <a:t> e) {</a:t>
                      </a:r>
                    </a:p>
                    <a:p>
                      <a:r>
                        <a:rPr lang="en-US" sz="1200" dirty="0"/>
                        <a:t>            </a:t>
                      </a:r>
                      <a:r>
                        <a:rPr lang="en-US" sz="1200" dirty="0" err="1"/>
                        <a:t>System.out.println</a:t>
                      </a:r>
                      <a:r>
                        <a:rPr lang="en-US" sz="1200" dirty="0"/>
                        <a:t>(</a:t>
                      </a:r>
                      <a:r>
                        <a:rPr lang="en-US" sz="1200" dirty="0" err="1"/>
                        <a:t>e.getMessage</a:t>
                      </a:r>
                      <a:r>
                        <a:rPr lang="en-US" sz="1200" dirty="0"/>
                        <a:t>());</a:t>
                      </a:r>
                    </a:p>
                    <a:p>
                      <a:r>
                        <a:rPr lang="en-US" sz="1200" dirty="0"/>
                        <a:t>        } </a:t>
                      </a:r>
                    </a:p>
                    <a:p>
                      <a:r>
                        <a:rPr lang="en-US" sz="1200" dirty="0"/>
                        <a:t>        finally {</a:t>
                      </a:r>
                    </a:p>
                    <a:p>
                      <a:r>
                        <a:rPr lang="en-US" sz="1200" dirty="0"/>
                        <a:t>            </a:t>
                      </a:r>
                      <a:r>
                        <a:rPr lang="en-US" sz="1200" dirty="0" err="1"/>
                        <a:t>System.out.println</a:t>
                      </a:r>
                      <a:r>
                        <a:rPr lang="en-US" sz="1200" dirty="0"/>
                        <a:t>("Transaction completed");</a:t>
                      </a:r>
                    </a:p>
                    <a:p>
                      <a:r>
                        <a:rPr lang="en-US" sz="1200" dirty="0"/>
                        <a:t>        }</a:t>
                      </a:r>
                    </a:p>
                    <a:p>
                      <a:r>
                        <a:rPr lang="en-US" sz="1200" dirty="0"/>
                        <a:t>    }</a:t>
                      </a:r>
                    </a:p>
                    <a:p>
                      <a:endParaRPr lang="en-US" sz="1200" dirty="0"/>
                    </a:p>
                    <a:p>
                      <a:r>
                        <a:rPr lang="en-US" sz="1200" dirty="0"/>
                        <a:t>    public static void main(String[] </a:t>
                      </a:r>
                      <a:r>
                        <a:rPr lang="en-US" sz="1200" dirty="0" err="1"/>
                        <a:t>args</a:t>
                      </a:r>
                      <a:r>
                        <a:rPr lang="en-US" sz="1200" dirty="0"/>
                        <a:t>) {</a:t>
                      </a:r>
                    </a:p>
                    <a:p>
                      <a:r>
                        <a:rPr lang="en-US" sz="1200" dirty="0"/>
                        <a:t>        Bank b = new Bank();</a:t>
                      </a:r>
                    </a:p>
                    <a:p>
                      <a:r>
                        <a:rPr lang="en-US" sz="1200" dirty="0"/>
                        <a:t>        </a:t>
                      </a:r>
                      <a:r>
                        <a:rPr lang="en-US" sz="1200" dirty="0" err="1"/>
                        <a:t>b.transfer</a:t>
                      </a:r>
                      <a:r>
                        <a:rPr lang="en-US" sz="1200" dirty="0"/>
                        <a:t>(500);</a:t>
                      </a:r>
                    </a:p>
                    <a:p>
                      <a:r>
                        <a:rPr lang="en-US" sz="1200" dirty="0"/>
                        <a:t>        </a:t>
                      </a:r>
                      <a:r>
                        <a:rPr lang="en-US" sz="1200" dirty="0" err="1"/>
                        <a:t>b.transfer</a:t>
                      </a:r>
                      <a:r>
                        <a:rPr lang="en-US" sz="1200" dirty="0"/>
                        <a:t>(1000);</a:t>
                      </a:r>
                    </a:p>
                    <a:p>
                      <a:r>
                        <a:rPr lang="en-US" sz="1200" dirty="0"/>
                        <a:t>    }</a:t>
                      </a:r>
                    </a:p>
                    <a:p>
                      <a:r>
                        <a:rPr lang="en-US" sz="1200" dirty="0"/>
                        <a:t>}</a:t>
                      </a:r>
                    </a:p>
                  </a:txBody>
                  <a:tcPr marL="53376" marR="53376" marT="26688" marB="26688"/>
                </a:tc>
                <a:extLst>
                  <a:ext uri="{0D108BD9-81ED-4DB2-BD59-A6C34878D82A}">
                    <a16:rowId xmlns:a16="http://schemas.microsoft.com/office/drawing/2014/main" val="3962270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77746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285C4-5420-3DD3-E206-7285A3E83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1B31F5B-02B9-4263-6CD8-EEACA8DEFE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7006944"/>
              </p:ext>
            </p:extLst>
          </p:nvPr>
        </p:nvGraphicFramePr>
        <p:xfrm>
          <a:off x="914400" y="2847181"/>
          <a:ext cx="10353674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176837">
                  <a:extLst>
                    <a:ext uri="{9D8B030D-6E8A-4147-A177-3AD203B41FA5}">
                      <a16:colId xmlns:a16="http://schemas.microsoft.com/office/drawing/2014/main" val="2615780414"/>
                    </a:ext>
                  </a:extLst>
                </a:gridCol>
                <a:gridCol w="5176837">
                  <a:extLst>
                    <a:ext uri="{9D8B030D-6E8A-4147-A177-3AD203B41FA5}">
                      <a16:colId xmlns:a16="http://schemas.microsoft.com/office/drawing/2014/main" val="313517002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901625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throw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Something went wrong right now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129142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throws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This operation is risky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47013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try-catch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Handle problem safely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168018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finally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Always cleanup / close session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79460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90711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E49B3-16AF-CAFB-6B88-994C9D086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Picture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9B1E9F-9BFD-3ACA-24D5-6321A02E55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 errors (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throws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errors when needed (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throw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 safely (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try-catch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cleanup always (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finally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971501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153</TotalTime>
  <Words>1872</Words>
  <Application>Microsoft Office PowerPoint</Application>
  <PresentationFormat>Widescreen</PresentationFormat>
  <Paragraphs>347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Arial</vt:lpstr>
      <vt:lpstr>Arial Unicode MS</vt:lpstr>
      <vt:lpstr>Calisto MT</vt:lpstr>
      <vt:lpstr>Wingdings 2</vt:lpstr>
      <vt:lpstr>Slate</vt:lpstr>
      <vt:lpstr>Exception handling in Java</vt:lpstr>
      <vt:lpstr>Exception</vt:lpstr>
      <vt:lpstr>Example situations</vt:lpstr>
      <vt:lpstr>Code Example</vt:lpstr>
      <vt:lpstr>Why Exception Handling?</vt:lpstr>
      <vt:lpstr>Java Exceptions</vt:lpstr>
      <vt:lpstr>Basic Structure</vt:lpstr>
      <vt:lpstr>What will be the output of the following code?</vt:lpstr>
      <vt:lpstr>Let’s handle it gracefully</vt:lpstr>
      <vt:lpstr>Variable in catch</vt:lpstr>
      <vt:lpstr>What will be the output of the following?</vt:lpstr>
      <vt:lpstr>Solution</vt:lpstr>
      <vt:lpstr>Common Java Exceptions</vt:lpstr>
      <vt:lpstr>Handling Multiple Exceptions</vt:lpstr>
      <vt:lpstr>Handling Multiple Exceptions</vt:lpstr>
      <vt:lpstr>Finally Block</vt:lpstr>
      <vt:lpstr>Finally Block</vt:lpstr>
      <vt:lpstr>Key Insight</vt:lpstr>
      <vt:lpstr>Throw keyword</vt:lpstr>
      <vt:lpstr>Throws Keyword</vt:lpstr>
      <vt:lpstr>In a nutshell</vt:lpstr>
      <vt:lpstr>Throw and throws together</vt:lpstr>
      <vt:lpstr>Real-life Example 01 – Banking System</vt:lpstr>
      <vt:lpstr>Real-life Example 02 – Shopping Cart System</vt:lpstr>
      <vt:lpstr>Real-life Example 03 – Shopping Cart System</vt:lpstr>
      <vt:lpstr>Summary</vt:lpstr>
      <vt:lpstr>Big Picture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Bilal Ahmed</dc:creator>
  <cp:lastModifiedBy>Bilal Ahmed</cp:lastModifiedBy>
  <cp:revision>19</cp:revision>
  <dcterms:created xsi:type="dcterms:W3CDTF">2026-04-19T11:56:16Z</dcterms:created>
  <dcterms:modified xsi:type="dcterms:W3CDTF">2026-05-13T04:34:30Z</dcterms:modified>
</cp:coreProperties>
</file>