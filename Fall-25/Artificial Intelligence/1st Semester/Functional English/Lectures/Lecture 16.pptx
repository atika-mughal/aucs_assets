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75" r:id="rId4"/>
    <p:sldId id="274"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1" r:id="rId18"/>
    <p:sldId id="273" r:id="rId19"/>
    <p:sldId id="272"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8" d="100"/>
          <a:sy n="58" d="100"/>
        </p:scale>
        <p:origin x="98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06F87E20-8D75-4061-B682-A23509D5AEC6}" type="datetimeFigureOut">
              <a:rPr lang="en-PK" smtClean="0"/>
              <a:t>07/11/2025</a:t>
            </a:fld>
            <a:endParaRPr lang="en-PK"/>
          </a:p>
        </p:txBody>
      </p:sp>
      <p:sp>
        <p:nvSpPr>
          <p:cNvPr id="5" name="Footer Placeholder 4"/>
          <p:cNvSpPr>
            <a:spLocks noGrp="1"/>
          </p:cNvSpPr>
          <p:nvPr>
            <p:ph type="ftr" sz="quarter" idx="11"/>
          </p:nvPr>
        </p:nvSpPr>
        <p:spPr>
          <a:xfrm>
            <a:off x="2692397" y="5037663"/>
            <a:ext cx="5214635" cy="279400"/>
          </a:xfrm>
        </p:spPr>
        <p:txBody>
          <a:bodyPr/>
          <a:lstStyle/>
          <a:p>
            <a:endParaRPr lang="en-PK"/>
          </a:p>
        </p:txBody>
      </p:sp>
      <p:sp>
        <p:nvSpPr>
          <p:cNvPr id="6" name="Slide Number Placeholder 5"/>
          <p:cNvSpPr>
            <a:spLocks noGrp="1"/>
          </p:cNvSpPr>
          <p:nvPr>
            <p:ph type="sldNum" sz="quarter" idx="12"/>
          </p:nvPr>
        </p:nvSpPr>
        <p:spPr>
          <a:xfrm>
            <a:off x="8956900" y="5037663"/>
            <a:ext cx="551167" cy="279400"/>
          </a:xfrm>
        </p:spPr>
        <p:txBody>
          <a:bodyPr/>
          <a:lstStyle/>
          <a:p>
            <a:fld id="{E0C588E6-4158-4B58-A220-B9842EA34704}" type="slidenum">
              <a:rPr lang="en-PK" smtClean="0"/>
              <a:t>‹#›</a:t>
            </a:fld>
            <a:endParaRPr lang="en-PK"/>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156273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6F87E20-8D75-4061-B682-A23509D5AEC6}" type="datetimeFigureOut">
              <a:rPr lang="en-PK" smtClean="0"/>
              <a:t>07/11/2025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E0C588E6-4158-4B58-A220-B9842EA34704}" type="slidenum">
              <a:rPr lang="en-PK" smtClean="0"/>
              <a:t>‹#›</a:t>
            </a:fld>
            <a:endParaRPr lang="en-PK"/>
          </a:p>
        </p:txBody>
      </p:sp>
    </p:spTree>
    <p:extLst>
      <p:ext uri="{BB962C8B-B14F-4D97-AF65-F5344CB8AC3E}">
        <p14:creationId xmlns:p14="http://schemas.microsoft.com/office/powerpoint/2010/main" val="7263014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6F87E20-8D75-4061-B682-A23509D5AEC6}" type="datetimeFigureOut">
              <a:rPr lang="en-PK" smtClean="0"/>
              <a:t>07/11/2025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E0C588E6-4158-4B58-A220-B9842EA34704}" type="slidenum">
              <a:rPr lang="en-PK" smtClean="0"/>
              <a:t>‹#›</a:t>
            </a:fld>
            <a:endParaRPr lang="en-PK"/>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499938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6F87E20-8D75-4061-B682-A23509D5AEC6}" type="datetimeFigureOut">
              <a:rPr lang="en-PK" smtClean="0"/>
              <a:t>07/11/2025</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E0C588E6-4158-4B58-A220-B9842EA34704}" type="slidenum">
              <a:rPr lang="en-PK" smtClean="0"/>
              <a:t>‹#›</a:t>
            </a:fld>
            <a:endParaRPr lang="en-PK"/>
          </a:p>
        </p:txBody>
      </p:sp>
    </p:spTree>
    <p:extLst>
      <p:ext uri="{BB962C8B-B14F-4D97-AF65-F5344CB8AC3E}">
        <p14:creationId xmlns:p14="http://schemas.microsoft.com/office/powerpoint/2010/main" val="24103369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6F87E20-8D75-4061-B682-A23509D5AEC6}" type="datetimeFigureOut">
              <a:rPr lang="en-PK" smtClean="0"/>
              <a:t>07/11/2025</a:t>
            </a:fld>
            <a:endParaRPr lang="en-PK"/>
          </a:p>
        </p:txBody>
      </p:sp>
      <p:sp>
        <p:nvSpPr>
          <p:cNvPr id="8" name="Footer Placeholder 7"/>
          <p:cNvSpPr>
            <a:spLocks noGrp="1"/>
          </p:cNvSpPr>
          <p:nvPr>
            <p:ph type="ftr" sz="quarter" idx="11"/>
          </p:nvPr>
        </p:nvSpPr>
        <p:spPr/>
        <p:txBody>
          <a:bodyPr/>
          <a:lstStyle/>
          <a:p>
            <a:endParaRPr lang="en-PK"/>
          </a:p>
        </p:txBody>
      </p:sp>
      <p:sp>
        <p:nvSpPr>
          <p:cNvPr id="9" name="Slide Number Placeholder 8"/>
          <p:cNvSpPr>
            <a:spLocks noGrp="1"/>
          </p:cNvSpPr>
          <p:nvPr>
            <p:ph type="sldNum" sz="quarter" idx="12"/>
          </p:nvPr>
        </p:nvSpPr>
        <p:spPr/>
        <p:txBody>
          <a:bodyPr/>
          <a:lstStyle/>
          <a:p>
            <a:fld id="{E0C588E6-4158-4B58-A220-B9842EA34704}" type="slidenum">
              <a:rPr lang="en-PK" smtClean="0"/>
              <a:t>‹#›</a:t>
            </a:fld>
            <a:endParaRPr lang="en-PK"/>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418811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6F87E20-8D75-4061-B682-A23509D5AEC6}" type="datetimeFigureOut">
              <a:rPr lang="en-PK" smtClean="0"/>
              <a:t>07/11/2025</a:t>
            </a:fld>
            <a:endParaRPr lang="en-PK"/>
          </a:p>
        </p:txBody>
      </p:sp>
      <p:sp>
        <p:nvSpPr>
          <p:cNvPr id="4" name="Footer Placeholder 3"/>
          <p:cNvSpPr>
            <a:spLocks noGrp="1"/>
          </p:cNvSpPr>
          <p:nvPr>
            <p:ph type="ftr" sz="quarter" idx="11"/>
          </p:nvPr>
        </p:nvSpPr>
        <p:spPr/>
        <p:txBody>
          <a:bodyPr/>
          <a:lstStyle/>
          <a:p>
            <a:endParaRPr lang="en-PK"/>
          </a:p>
        </p:txBody>
      </p:sp>
      <p:sp>
        <p:nvSpPr>
          <p:cNvPr id="5" name="Slide Number Placeholder 4"/>
          <p:cNvSpPr>
            <a:spLocks noGrp="1"/>
          </p:cNvSpPr>
          <p:nvPr>
            <p:ph type="sldNum" sz="quarter" idx="12"/>
          </p:nvPr>
        </p:nvSpPr>
        <p:spPr/>
        <p:txBody>
          <a:bodyPr/>
          <a:lstStyle/>
          <a:p>
            <a:fld id="{E0C588E6-4158-4B58-A220-B9842EA34704}" type="slidenum">
              <a:rPr lang="en-PK" smtClean="0"/>
              <a:t>‹#›</a:t>
            </a:fld>
            <a:endParaRPr lang="en-PK"/>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287906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F87E20-8D75-4061-B682-A23509D5AEC6}" type="datetimeFigureOut">
              <a:rPr lang="en-PK" smtClean="0"/>
              <a:t>07/11/2025</a:t>
            </a:fld>
            <a:endParaRPr lang="en-PK"/>
          </a:p>
        </p:txBody>
      </p:sp>
      <p:sp>
        <p:nvSpPr>
          <p:cNvPr id="3" name="Footer Placeholder 2"/>
          <p:cNvSpPr>
            <a:spLocks noGrp="1"/>
          </p:cNvSpPr>
          <p:nvPr>
            <p:ph type="ftr" sz="quarter" idx="11"/>
          </p:nvPr>
        </p:nvSpPr>
        <p:spPr/>
        <p:txBody>
          <a:bodyPr/>
          <a:lstStyle/>
          <a:p>
            <a:endParaRPr lang="en-PK"/>
          </a:p>
        </p:txBody>
      </p:sp>
      <p:sp>
        <p:nvSpPr>
          <p:cNvPr id="4" name="Slide Number Placeholder 3"/>
          <p:cNvSpPr>
            <a:spLocks noGrp="1"/>
          </p:cNvSpPr>
          <p:nvPr>
            <p:ph type="sldNum" sz="quarter" idx="12"/>
          </p:nvPr>
        </p:nvSpPr>
        <p:spPr/>
        <p:txBody>
          <a:bodyPr/>
          <a:lstStyle/>
          <a:p>
            <a:fld id="{E0C588E6-4158-4B58-A220-B9842EA34704}" type="slidenum">
              <a:rPr lang="en-PK" smtClean="0"/>
              <a:t>‹#›</a:t>
            </a:fld>
            <a:endParaRPr lang="en-PK"/>
          </a:p>
        </p:txBody>
      </p:sp>
    </p:spTree>
    <p:extLst>
      <p:ext uri="{BB962C8B-B14F-4D97-AF65-F5344CB8AC3E}">
        <p14:creationId xmlns:p14="http://schemas.microsoft.com/office/powerpoint/2010/main" val="42048921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6F87E20-8D75-4061-B682-A23509D5AEC6}" type="datetimeFigureOut">
              <a:rPr lang="en-PK" smtClean="0"/>
              <a:t>07/11/2025</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E0C588E6-4158-4B58-A220-B9842EA34704}" type="slidenum">
              <a:rPr lang="en-PK" smtClean="0"/>
              <a:t>‹#›</a:t>
            </a:fld>
            <a:endParaRPr lang="en-PK"/>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81967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6F87E20-8D75-4061-B682-A23509D5AEC6}" type="datetimeFigureOut">
              <a:rPr lang="en-PK" smtClean="0"/>
              <a:t>07/11/2025</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E0C588E6-4158-4B58-A220-B9842EA34704}" type="slidenum">
              <a:rPr lang="en-PK" smtClean="0"/>
              <a:t>‹#›</a:t>
            </a:fld>
            <a:endParaRPr lang="en-PK"/>
          </a:p>
        </p:txBody>
      </p:sp>
    </p:spTree>
    <p:extLst>
      <p:ext uri="{BB962C8B-B14F-4D97-AF65-F5344CB8AC3E}">
        <p14:creationId xmlns:p14="http://schemas.microsoft.com/office/powerpoint/2010/main" val="16490920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6F87E20-8D75-4061-B682-A23509D5AEC6}" type="datetimeFigureOut">
              <a:rPr lang="en-PK" smtClean="0"/>
              <a:t>07/11/2025</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E0C588E6-4158-4B58-A220-B9842EA34704}" type="slidenum">
              <a:rPr lang="en-PK" smtClean="0"/>
              <a:t>‹#›</a:t>
            </a:fld>
            <a:endParaRPr lang="en-PK"/>
          </a:p>
        </p:txBody>
      </p:sp>
    </p:spTree>
    <p:extLst>
      <p:ext uri="{BB962C8B-B14F-4D97-AF65-F5344CB8AC3E}">
        <p14:creationId xmlns:p14="http://schemas.microsoft.com/office/powerpoint/2010/main" val="12186498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6F87E20-8D75-4061-B682-A23509D5AEC6}" type="datetimeFigureOut">
              <a:rPr lang="en-PK" smtClean="0"/>
              <a:t>07/11/2025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E0C588E6-4158-4B58-A220-B9842EA34704}" type="slidenum">
              <a:rPr lang="en-PK" smtClean="0"/>
              <a:t>‹#›</a:t>
            </a:fld>
            <a:endParaRPr lang="en-PK"/>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24426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6F87E20-8D75-4061-B682-A23509D5AEC6}" type="datetimeFigureOut">
              <a:rPr lang="en-PK" smtClean="0"/>
              <a:t>07/11/2025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E0C588E6-4158-4B58-A220-B9842EA34704}" type="slidenum">
              <a:rPr lang="en-PK" smtClean="0"/>
              <a:t>‹#›</a:t>
            </a:fld>
            <a:endParaRPr lang="en-PK"/>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297420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6F87E20-8D75-4061-B682-A23509D5AEC6}" type="datetimeFigureOut">
              <a:rPr lang="en-PK" smtClean="0"/>
              <a:t>07/11/2025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E0C588E6-4158-4B58-A220-B9842EA34704}" type="slidenum">
              <a:rPr lang="en-PK" smtClean="0"/>
              <a:t>‹#›</a:t>
            </a:fld>
            <a:endParaRPr lang="en-PK"/>
          </a:p>
        </p:txBody>
      </p:sp>
    </p:spTree>
    <p:extLst>
      <p:ext uri="{BB962C8B-B14F-4D97-AF65-F5344CB8AC3E}">
        <p14:creationId xmlns:p14="http://schemas.microsoft.com/office/powerpoint/2010/main" val="42175623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6F87E20-8D75-4061-B682-A23509D5AEC6}" type="datetimeFigureOut">
              <a:rPr lang="en-PK" smtClean="0"/>
              <a:t>07/11/2025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E0C588E6-4158-4B58-A220-B9842EA34704}" type="slidenum">
              <a:rPr lang="en-PK" smtClean="0"/>
              <a:t>‹#›</a:t>
            </a:fld>
            <a:endParaRPr lang="en-PK"/>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719163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6F87E20-8D75-4061-B682-A23509D5AEC6}" type="datetimeFigureOut">
              <a:rPr lang="en-PK" smtClean="0"/>
              <a:t>07/11/2025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E0C588E6-4158-4B58-A220-B9842EA34704}" type="slidenum">
              <a:rPr lang="en-PK" smtClean="0"/>
              <a:t>‹#›</a:t>
            </a:fld>
            <a:endParaRPr lang="en-PK"/>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970575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6F87E20-8D75-4061-B682-A23509D5AEC6}" type="datetimeFigureOut">
              <a:rPr lang="en-PK" smtClean="0"/>
              <a:t>07/11/2025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E0C588E6-4158-4B58-A220-B9842EA34704}" type="slidenum">
              <a:rPr lang="en-PK" smtClean="0"/>
              <a:t>‹#›</a:t>
            </a:fld>
            <a:endParaRPr lang="en-PK"/>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830937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6F87E20-8D75-4061-B682-A23509D5AEC6}" type="datetimeFigureOut">
              <a:rPr lang="en-PK" smtClean="0"/>
              <a:t>07/11/2025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E0C588E6-4158-4B58-A220-B9842EA34704}" type="slidenum">
              <a:rPr lang="en-PK" smtClean="0"/>
              <a:t>‹#›</a:t>
            </a:fld>
            <a:endParaRPr lang="en-PK"/>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08148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6F87E20-8D75-4061-B682-A23509D5AEC6}" type="datetimeFigureOut">
              <a:rPr lang="en-PK" smtClean="0"/>
              <a:t>07/11/2025</a:t>
            </a:fld>
            <a:endParaRPr lang="en-PK"/>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PK"/>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0C588E6-4158-4B58-A220-B9842EA34704}" type="slidenum">
              <a:rPr lang="en-PK" smtClean="0"/>
              <a:t>‹#›</a:t>
            </a:fld>
            <a:endParaRPr lang="en-PK"/>
          </a:p>
        </p:txBody>
      </p:sp>
    </p:spTree>
    <p:extLst>
      <p:ext uri="{BB962C8B-B14F-4D97-AF65-F5344CB8AC3E}">
        <p14:creationId xmlns:p14="http://schemas.microsoft.com/office/powerpoint/2010/main" val="9225261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60299-68F4-F07F-7222-AA0D79BDBFB8}"/>
              </a:ext>
            </a:extLst>
          </p:cNvPr>
          <p:cNvSpPr>
            <a:spLocks noGrp="1"/>
          </p:cNvSpPr>
          <p:nvPr>
            <p:ph type="ctrTitle"/>
          </p:nvPr>
        </p:nvSpPr>
        <p:spPr/>
        <p:txBody>
          <a:bodyPr/>
          <a:lstStyle/>
          <a:p>
            <a:r>
              <a:rPr lang="en-GB" dirty="0"/>
              <a:t>Formal letters</a:t>
            </a:r>
            <a:endParaRPr lang="en-PK" dirty="0"/>
          </a:p>
        </p:txBody>
      </p:sp>
      <p:sp>
        <p:nvSpPr>
          <p:cNvPr id="3" name="Subtitle 2">
            <a:extLst>
              <a:ext uri="{FF2B5EF4-FFF2-40B4-BE49-F238E27FC236}">
                <a16:creationId xmlns:a16="http://schemas.microsoft.com/office/drawing/2014/main" id="{C188B81F-3A10-AA57-86D9-63402515EDEA}"/>
              </a:ext>
            </a:extLst>
          </p:cNvPr>
          <p:cNvSpPr>
            <a:spLocks noGrp="1"/>
          </p:cNvSpPr>
          <p:nvPr>
            <p:ph type="subTitle" idx="1"/>
          </p:nvPr>
        </p:nvSpPr>
        <p:spPr/>
        <p:txBody>
          <a:bodyPr/>
          <a:lstStyle/>
          <a:p>
            <a:r>
              <a:rPr lang="en-GB" dirty="0"/>
              <a:t>BS-AI</a:t>
            </a:r>
          </a:p>
          <a:p>
            <a:r>
              <a:rPr lang="en-GB" dirty="0"/>
              <a:t>Rizwana Bashir</a:t>
            </a:r>
            <a:endParaRPr lang="en-PK" dirty="0"/>
          </a:p>
        </p:txBody>
      </p:sp>
    </p:spTree>
    <p:extLst>
      <p:ext uri="{BB962C8B-B14F-4D97-AF65-F5344CB8AC3E}">
        <p14:creationId xmlns:p14="http://schemas.microsoft.com/office/powerpoint/2010/main" val="7682223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04D212-487F-8D7D-268B-DE6C03DB9417}"/>
              </a:ext>
            </a:extLst>
          </p:cNvPr>
          <p:cNvSpPr>
            <a:spLocks noGrp="1"/>
          </p:cNvSpPr>
          <p:nvPr>
            <p:ph idx="1"/>
          </p:nvPr>
        </p:nvSpPr>
        <p:spPr>
          <a:xfrm>
            <a:off x="1046601" y="795867"/>
            <a:ext cx="10873649" cy="4859866"/>
          </a:xfrm>
        </p:spPr>
        <p:txBody>
          <a:bodyPr>
            <a:normAutofit/>
          </a:bodyPr>
          <a:lstStyle/>
          <a:p>
            <a:pPr marL="0" indent="0">
              <a:buNone/>
            </a:pPr>
            <a:endParaRPr lang="en-GB" b="1" dirty="0"/>
          </a:p>
          <a:p>
            <a:r>
              <a:rPr lang="en-GB" b="1" dirty="0"/>
              <a:t>Real (Anonymized) Job Advertisements</a:t>
            </a:r>
          </a:p>
          <a:p>
            <a:r>
              <a:rPr lang="en-GB" b="1" dirty="0"/>
              <a:t>Job Ad A: For a Lab Technician</a:t>
            </a:r>
            <a:endParaRPr lang="en-GB" dirty="0"/>
          </a:p>
          <a:p>
            <a:r>
              <a:rPr lang="en-GB" b="1" dirty="0"/>
              <a:t>Company:</a:t>
            </a:r>
            <a:r>
              <a:rPr lang="en-GB" dirty="0"/>
              <a:t> Innovate Labs Inc.</a:t>
            </a:r>
            <a:br>
              <a:rPr lang="en-GB" dirty="0"/>
            </a:br>
            <a:r>
              <a:rPr lang="en-GB" b="1" dirty="0"/>
              <a:t>Position:</a:t>
            </a:r>
            <a:r>
              <a:rPr lang="en-GB" dirty="0"/>
              <a:t> Junior Laboratory Technician</a:t>
            </a:r>
            <a:br>
              <a:rPr lang="en-GB" dirty="0"/>
            </a:br>
            <a:r>
              <a:rPr lang="en-GB" b="1" dirty="0"/>
              <a:t>Location:</a:t>
            </a:r>
            <a:r>
              <a:rPr lang="en-GB" dirty="0"/>
              <a:t> [City, State]</a:t>
            </a:r>
          </a:p>
          <a:p>
            <a:r>
              <a:rPr lang="en-GB" b="1" dirty="0"/>
              <a:t>About Us:</a:t>
            </a:r>
            <a:r>
              <a:rPr lang="en-GB" dirty="0"/>
              <a:t> Innovate Labs Inc. is a leading biotechnology firm focused on developing novel diagnostic tools. We value precision, teamwork, and a passion for discovery.</a:t>
            </a:r>
          </a:p>
        </p:txBody>
      </p:sp>
    </p:spTree>
    <p:extLst>
      <p:ext uri="{BB962C8B-B14F-4D97-AF65-F5344CB8AC3E}">
        <p14:creationId xmlns:p14="http://schemas.microsoft.com/office/powerpoint/2010/main" val="40803515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697F40-8A1A-1E50-DB35-1871F0711DF6}"/>
              </a:ext>
            </a:extLst>
          </p:cNvPr>
          <p:cNvSpPr>
            <a:spLocks noGrp="1"/>
          </p:cNvSpPr>
          <p:nvPr>
            <p:ph idx="1"/>
          </p:nvPr>
        </p:nvSpPr>
        <p:spPr>
          <a:xfrm>
            <a:off x="1295401" y="999067"/>
            <a:ext cx="9601196" cy="4876801"/>
          </a:xfrm>
        </p:spPr>
        <p:txBody>
          <a:bodyPr/>
          <a:lstStyle/>
          <a:p>
            <a:r>
              <a:rPr lang="en-GB" b="1" dirty="0"/>
              <a:t>Responsibilities:</a:t>
            </a:r>
            <a:endParaRPr lang="en-GB" dirty="0"/>
          </a:p>
          <a:p>
            <a:r>
              <a:rPr lang="en-GB" dirty="0"/>
              <a:t>Prepare solutions, media, and reagents for laboratory use.</a:t>
            </a:r>
          </a:p>
          <a:p>
            <a:r>
              <a:rPr lang="en-GB" dirty="0"/>
              <a:t>Perform routine cell culture and maintain sterile conditions.</a:t>
            </a:r>
          </a:p>
          <a:p>
            <a:r>
              <a:rPr lang="en-GB" dirty="0"/>
              <a:t>Conduct basic molecular biology techniques, including PCR, gel electrophoresis, and DNA/RNA extraction.</a:t>
            </a:r>
          </a:p>
          <a:p>
            <a:r>
              <a:rPr lang="en-GB" dirty="0"/>
              <a:t>Accurately record data in electronic lab notebooks and assist in preliminary analysis.</a:t>
            </a:r>
          </a:p>
          <a:p>
            <a:r>
              <a:rPr lang="en-GB" dirty="0"/>
              <a:t>Ensure compliance with laboratory safety protocols.</a:t>
            </a:r>
          </a:p>
        </p:txBody>
      </p:sp>
    </p:spTree>
    <p:extLst>
      <p:ext uri="{BB962C8B-B14F-4D97-AF65-F5344CB8AC3E}">
        <p14:creationId xmlns:p14="http://schemas.microsoft.com/office/powerpoint/2010/main" val="1884416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A50C21-9A92-9D24-D1B3-48B89988F5C1}"/>
              </a:ext>
            </a:extLst>
          </p:cNvPr>
          <p:cNvSpPr>
            <a:spLocks noGrp="1"/>
          </p:cNvSpPr>
          <p:nvPr>
            <p:ph idx="1"/>
          </p:nvPr>
        </p:nvSpPr>
        <p:spPr>
          <a:xfrm>
            <a:off x="1295401" y="1016000"/>
            <a:ext cx="9601196" cy="4876801"/>
          </a:xfrm>
        </p:spPr>
        <p:txBody>
          <a:bodyPr>
            <a:normAutofit/>
          </a:bodyPr>
          <a:lstStyle/>
          <a:p>
            <a:r>
              <a:rPr lang="en-GB" b="1" dirty="0"/>
              <a:t>Qualifications:</a:t>
            </a:r>
            <a:endParaRPr lang="en-GB" dirty="0"/>
          </a:p>
          <a:p>
            <a:r>
              <a:rPr lang="en-GB" dirty="0"/>
              <a:t>Bachelor of Science in Biology, Biochemistry, or a related field.</a:t>
            </a:r>
          </a:p>
          <a:p>
            <a:r>
              <a:rPr lang="en-GB" dirty="0"/>
              <a:t>Hands-on experience with standard lab equipment (pipettes, centrifuges, biosafety cabinets).</a:t>
            </a:r>
          </a:p>
          <a:p>
            <a:r>
              <a:rPr lang="en-GB" dirty="0"/>
              <a:t>Familiarity with aseptic technique and molecular biology protocols is required.</a:t>
            </a:r>
          </a:p>
          <a:p>
            <a:r>
              <a:rPr lang="en-GB" dirty="0"/>
              <a:t>Strong attention to detail and excellent organizational skills.</a:t>
            </a:r>
          </a:p>
          <a:p>
            <a:r>
              <a:rPr lang="en-GB" dirty="0"/>
              <a:t>Ability to work effectively both independently and as part of a team.</a:t>
            </a:r>
          </a:p>
          <a:p>
            <a:r>
              <a:rPr lang="en-GB" b="1" dirty="0"/>
              <a:t>To Apply:</a:t>
            </a:r>
            <a:r>
              <a:rPr lang="en-GB" dirty="0"/>
              <a:t> Please send your resume and a cover letter to careers@innovatelabs.com.</a:t>
            </a:r>
            <a:endParaRPr lang="en-PK" dirty="0"/>
          </a:p>
        </p:txBody>
      </p:sp>
    </p:spTree>
    <p:extLst>
      <p:ext uri="{BB962C8B-B14F-4D97-AF65-F5344CB8AC3E}">
        <p14:creationId xmlns:p14="http://schemas.microsoft.com/office/powerpoint/2010/main" val="9250415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3ABED3-3D14-6456-541A-EEE60C4A789B}"/>
              </a:ext>
            </a:extLst>
          </p:cNvPr>
          <p:cNvSpPr>
            <a:spLocks noGrp="1"/>
          </p:cNvSpPr>
          <p:nvPr>
            <p:ph idx="1"/>
          </p:nvPr>
        </p:nvSpPr>
        <p:spPr>
          <a:xfrm>
            <a:off x="1295401" y="1366092"/>
            <a:ext cx="9601196" cy="4509776"/>
          </a:xfrm>
        </p:spPr>
        <p:txBody>
          <a:bodyPr>
            <a:normAutofit fontScale="92500" lnSpcReduction="10000"/>
          </a:bodyPr>
          <a:lstStyle/>
          <a:p>
            <a:r>
              <a:rPr lang="en-GB" b="1" dirty="0"/>
              <a:t> Example of a Poorly Written Letter for Critique</a:t>
            </a:r>
          </a:p>
          <a:p>
            <a:pPr marL="0" indent="0">
              <a:buNone/>
            </a:pPr>
            <a:r>
              <a:rPr lang="en-GB" b="1" dirty="0"/>
              <a:t>Activity: "The Fixer-Upper"</a:t>
            </a:r>
            <a:r>
              <a:rPr lang="en-GB" dirty="0"/>
              <a:t> – Have students identify and correct the errors in this letter.</a:t>
            </a:r>
          </a:p>
          <a:p>
            <a:pPr marL="0" indent="0">
              <a:buNone/>
            </a:pPr>
            <a:r>
              <a:rPr lang="en-GB" dirty="0"/>
              <a:t>hey,</a:t>
            </a:r>
            <a:br>
              <a:rPr lang="en-GB" dirty="0"/>
            </a:br>
            <a:r>
              <a:rPr lang="en-GB" dirty="0" err="1"/>
              <a:t>i</a:t>
            </a:r>
            <a:r>
              <a:rPr lang="en-GB" dirty="0"/>
              <a:t> saw your ad for the lab tech job and </a:t>
            </a:r>
            <a:r>
              <a:rPr lang="en-GB" dirty="0" err="1"/>
              <a:t>i</a:t>
            </a:r>
            <a:r>
              <a:rPr lang="en-GB" dirty="0"/>
              <a:t> think id be good for it. I just finished my degree in bio and </a:t>
            </a:r>
            <a:r>
              <a:rPr lang="en-GB" dirty="0" err="1"/>
              <a:t>ive</a:t>
            </a:r>
            <a:r>
              <a:rPr lang="en-GB" dirty="0"/>
              <a:t> done a lot of the stuff you mentioned.</a:t>
            </a:r>
          </a:p>
          <a:p>
            <a:pPr marL="0" indent="0">
              <a:buNone/>
            </a:pPr>
            <a:r>
              <a:rPr lang="en-GB" dirty="0"/>
              <a:t>I'm pretty good in the lab. I know how to use pipettes and I did PCR a bunch of times for my classes. I also worked with bacteria. I'm a hard worker and I learn fast.</a:t>
            </a:r>
          </a:p>
          <a:p>
            <a:pPr marL="0" indent="0">
              <a:buNone/>
            </a:pPr>
            <a:r>
              <a:rPr lang="en-GB" dirty="0"/>
              <a:t>Let me know if you want to hire me. You can call me or email me back.</a:t>
            </a:r>
          </a:p>
          <a:p>
            <a:pPr marL="0" indent="0">
              <a:buNone/>
            </a:pPr>
            <a:r>
              <a:rPr lang="en-GB" dirty="0"/>
              <a:t>thanks,</a:t>
            </a:r>
          </a:p>
          <a:p>
            <a:pPr marL="0" indent="0">
              <a:buNone/>
            </a:pPr>
            <a:r>
              <a:rPr lang="en-GB" dirty="0"/>
              <a:t>[Student's Name]</a:t>
            </a:r>
          </a:p>
          <a:p>
            <a:endParaRPr lang="en-PK" dirty="0"/>
          </a:p>
        </p:txBody>
      </p:sp>
    </p:spTree>
    <p:extLst>
      <p:ext uri="{BB962C8B-B14F-4D97-AF65-F5344CB8AC3E}">
        <p14:creationId xmlns:p14="http://schemas.microsoft.com/office/powerpoint/2010/main" val="28318757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1B642C-F3D4-AAA4-4426-2564109EA0C0}"/>
              </a:ext>
            </a:extLst>
          </p:cNvPr>
          <p:cNvSpPr>
            <a:spLocks noGrp="1"/>
          </p:cNvSpPr>
          <p:nvPr>
            <p:ph idx="1"/>
          </p:nvPr>
        </p:nvSpPr>
        <p:spPr>
          <a:xfrm>
            <a:off x="1295401" y="1266940"/>
            <a:ext cx="9601196" cy="4608928"/>
          </a:xfrm>
        </p:spPr>
        <p:txBody>
          <a:bodyPr>
            <a:normAutofit/>
          </a:bodyPr>
          <a:lstStyle/>
          <a:p>
            <a:pPr marL="0" indent="0">
              <a:buNone/>
            </a:pPr>
            <a:r>
              <a:rPr lang="en-GB" dirty="0"/>
              <a:t>[Your Name]</a:t>
            </a:r>
            <a:br>
              <a:rPr lang="en-GB" dirty="0"/>
            </a:br>
            <a:r>
              <a:rPr lang="en-GB" dirty="0"/>
              <a:t>[Your Address]</a:t>
            </a:r>
            <a:br>
              <a:rPr lang="en-GB" dirty="0"/>
            </a:br>
            <a:r>
              <a:rPr lang="en-GB" dirty="0"/>
              <a:t>[Your Email &amp; Phone Number]</a:t>
            </a:r>
          </a:p>
          <a:p>
            <a:pPr marL="0" indent="0">
              <a:buNone/>
            </a:pPr>
            <a:r>
              <a:rPr lang="en-GB" dirty="0"/>
              <a:t>[Date]</a:t>
            </a:r>
          </a:p>
          <a:p>
            <a:pPr marL="0" indent="0">
              <a:buNone/>
            </a:pPr>
            <a:r>
              <a:rPr lang="en-GB" dirty="0"/>
              <a:t>Hiring Manager</a:t>
            </a:r>
            <a:br>
              <a:rPr lang="en-GB" dirty="0"/>
            </a:br>
            <a:r>
              <a:rPr lang="en-GB" dirty="0"/>
              <a:t>Innovate Labs Inc.</a:t>
            </a:r>
            <a:br>
              <a:rPr lang="en-GB" dirty="0"/>
            </a:br>
            <a:r>
              <a:rPr lang="en-GB" dirty="0"/>
              <a:t>[Company Address]</a:t>
            </a:r>
          </a:p>
          <a:p>
            <a:pPr marL="0" indent="0">
              <a:buNone/>
            </a:pPr>
            <a:r>
              <a:rPr lang="en-GB" b="1" dirty="0"/>
              <a:t>Subject: Application for Junior Laboratory Technician Position</a:t>
            </a:r>
            <a:endParaRPr lang="en-GB" dirty="0"/>
          </a:p>
        </p:txBody>
      </p:sp>
    </p:spTree>
    <p:extLst>
      <p:ext uri="{BB962C8B-B14F-4D97-AF65-F5344CB8AC3E}">
        <p14:creationId xmlns:p14="http://schemas.microsoft.com/office/powerpoint/2010/main" val="38213571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D2FD91-BA33-96E2-6F25-4E3F42710369}"/>
              </a:ext>
            </a:extLst>
          </p:cNvPr>
          <p:cNvSpPr>
            <a:spLocks noGrp="1"/>
          </p:cNvSpPr>
          <p:nvPr>
            <p:ph idx="1"/>
          </p:nvPr>
        </p:nvSpPr>
        <p:spPr>
          <a:xfrm>
            <a:off x="815248" y="771181"/>
            <a:ext cx="10554159" cy="5288096"/>
          </a:xfrm>
        </p:spPr>
        <p:txBody>
          <a:bodyPr>
            <a:noAutofit/>
          </a:bodyPr>
          <a:lstStyle/>
          <a:p>
            <a:pPr marL="0" indent="0">
              <a:buNone/>
            </a:pPr>
            <a:r>
              <a:rPr lang="en-GB" sz="1800" dirty="0"/>
              <a:t>Dear Hiring Manager,</a:t>
            </a:r>
          </a:p>
          <a:p>
            <a:pPr marL="0" indent="0">
              <a:buNone/>
            </a:pPr>
            <a:r>
              <a:rPr lang="en-GB" sz="1800" dirty="0"/>
              <a:t>I am writing to express my enthusiastic interest in the Junior Laboratory Technician position at Innovate Labs Inc., as advertised on [Platform, e.g., LinkedIn]. As a recent graduate with a Bachelor of Science in Molecular Biology from [Your University], I have developed a strong foundation in the precise laboratory techniques and aseptic practices required for this role.</a:t>
            </a:r>
          </a:p>
          <a:p>
            <a:pPr marL="0" indent="0">
              <a:buNone/>
            </a:pPr>
            <a:r>
              <a:rPr lang="en-GB" sz="1800" dirty="0"/>
              <a:t>Throughout my academic and research career, I have gained hands-on, independent experience in key areas mentioned in your job description. For my final year project, I routinely performed DNA extraction, PCR amplification, and gel electrophoresis to genotype plant samples. This project required meticulous preparation of reagents and strict adherence to sterile cell culture protocols to prevent contamination. I am proficient in using micropipettes, centrifuges, and biosafety cabinets, and I am dedicated to maintaining accurate and detailed lab notebooks.</a:t>
            </a:r>
          </a:p>
          <a:p>
            <a:pPr marL="0" indent="0">
              <a:buNone/>
            </a:pPr>
            <a:r>
              <a:rPr lang="en-GB" sz="1800" dirty="0"/>
              <a:t>I am impressed by Innovate Labs Inc.'s work in developing novel diagnostic tools, and I am eager to contribute to a team that values precision and discovery. My resume is attached for your review. Thank you for considering my application. I am available for an interview at your earliest convenience and look forward to the opportunity to discuss how my skills can benefit your team.</a:t>
            </a:r>
          </a:p>
        </p:txBody>
      </p:sp>
    </p:spTree>
    <p:extLst>
      <p:ext uri="{BB962C8B-B14F-4D97-AF65-F5344CB8AC3E}">
        <p14:creationId xmlns:p14="http://schemas.microsoft.com/office/powerpoint/2010/main" val="33595670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F19A7-EC7F-8A7A-5D9F-A7046F9865C9}"/>
              </a:ext>
            </a:extLst>
          </p:cNvPr>
          <p:cNvSpPr>
            <a:spLocks noGrp="1"/>
          </p:cNvSpPr>
          <p:nvPr>
            <p:ph type="title"/>
          </p:nvPr>
        </p:nvSpPr>
        <p:spPr/>
        <p:txBody>
          <a:bodyPr/>
          <a:lstStyle/>
          <a:p>
            <a:r>
              <a:rPr lang="en-GB" dirty="0"/>
              <a:t>End salutations</a:t>
            </a:r>
            <a:endParaRPr lang="en-PK" dirty="0"/>
          </a:p>
        </p:txBody>
      </p:sp>
      <p:sp>
        <p:nvSpPr>
          <p:cNvPr id="3" name="Content Placeholder 2">
            <a:extLst>
              <a:ext uri="{FF2B5EF4-FFF2-40B4-BE49-F238E27FC236}">
                <a16:creationId xmlns:a16="http://schemas.microsoft.com/office/drawing/2014/main" id="{D2CAEACC-F61B-DF6C-892E-408997E975AB}"/>
              </a:ext>
            </a:extLst>
          </p:cNvPr>
          <p:cNvSpPr>
            <a:spLocks noGrp="1"/>
          </p:cNvSpPr>
          <p:nvPr>
            <p:ph idx="1"/>
          </p:nvPr>
        </p:nvSpPr>
        <p:spPr/>
        <p:txBody>
          <a:bodyPr/>
          <a:lstStyle/>
          <a:p>
            <a:pPr marL="0" indent="0">
              <a:buNone/>
            </a:pPr>
            <a:r>
              <a:rPr lang="en-GB" dirty="0"/>
              <a:t>Sincerely,</a:t>
            </a:r>
          </a:p>
          <a:p>
            <a:pPr marL="0" indent="0">
              <a:buNone/>
            </a:pPr>
            <a:r>
              <a:rPr lang="en-GB" dirty="0"/>
              <a:t>[Your Signature]</a:t>
            </a:r>
          </a:p>
          <a:p>
            <a:pPr marL="0" indent="0">
              <a:buNone/>
            </a:pPr>
            <a:r>
              <a:rPr lang="en-GB" dirty="0"/>
              <a:t>[Your Typed Name]</a:t>
            </a:r>
            <a:br>
              <a:rPr lang="en-GB" dirty="0"/>
            </a:br>
            <a:r>
              <a:rPr lang="en-GB" b="1" dirty="0"/>
              <a:t>Encl.: Resume</a:t>
            </a:r>
            <a:endParaRPr lang="en-GB" dirty="0"/>
          </a:p>
          <a:p>
            <a:pPr marL="0" indent="0">
              <a:buNone/>
            </a:pPr>
            <a:endParaRPr lang="en-PK" dirty="0"/>
          </a:p>
        </p:txBody>
      </p:sp>
    </p:spTree>
    <p:extLst>
      <p:ext uri="{BB962C8B-B14F-4D97-AF65-F5344CB8AC3E}">
        <p14:creationId xmlns:p14="http://schemas.microsoft.com/office/powerpoint/2010/main" val="21085034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27B96B-C0BA-66F7-0832-6F567FE9FA9E}"/>
              </a:ext>
            </a:extLst>
          </p:cNvPr>
          <p:cNvSpPr>
            <a:spLocks noGrp="1"/>
          </p:cNvSpPr>
          <p:nvPr>
            <p:ph idx="1"/>
          </p:nvPr>
        </p:nvSpPr>
        <p:spPr>
          <a:xfrm>
            <a:off x="1295401" y="1202267"/>
            <a:ext cx="9601196" cy="4876800"/>
          </a:xfrm>
        </p:spPr>
        <p:txBody>
          <a:bodyPr>
            <a:normAutofit lnSpcReduction="10000"/>
          </a:bodyPr>
          <a:lstStyle/>
          <a:p>
            <a:r>
              <a:rPr lang="en-GB" sz="2800" b="1" dirty="0"/>
              <a:t>Real-World Scenarios for BS Graduates:</a:t>
            </a:r>
            <a:endParaRPr lang="en-GB" sz="2800" dirty="0"/>
          </a:p>
          <a:p>
            <a:pPr lvl="1"/>
            <a:r>
              <a:rPr lang="en-GB" sz="2800" dirty="0"/>
              <a:t>Job Application / Cover Letters</a:t>
            </a:r>
          </a:p>
          <a:p>
            <a:pPr lvl="1"/>
            <a:r>
              <a:rPr lang="en-GB" sz="2800" dirty="0"/>
              <a:t>Internship Inquiry Letters</a:t>
            </a:r>
          </a:p>
          <a:p>
            <a:pPr lvl="1"/>
            <a:r>
              <a:rPr lang="en-GB" sz="2800" dirty="0"/>
              <a:t>Request for Academic Recommendation</a:t>
            </a:r>
          </a:p>
          <a:p>
            <a:pPr lvl="1"/>
            <a:r>
              <a:rPr lang="en-GB" sz="2800" dirty="0"/>
              <a:t>Inquiry about Research Opportunities or Graduate Programs</a:t>
            </a:r>
          </a:p>
          <a:p>
            <a:pPr lvl="1"/>
            <a:r>
              <a:rPr lang="en-GB" sz="2800" dirty="0"/>
              <a:t>Letter of Complaint or Inquiry to a Supplier/Vendor (e.g., faulty lab equipment)</a:t>
            </a:r>
          </a:p>
          <a:p>
            <a:pPr lvl="1"/>
            <a:r>
              <a:rPr lang="en-GB" sz="2800" dirty="0"/>
              <a:t>Formal Request for Information from a Government Agency</a:t>
            </a:r>
          </a:p>
          <a:p>
            <a:pPr lvl="1"/>
            <a:r>
              <a:rPr lang="en-GB" sz="2800" dirty="0"/>
              <a:t>Submission Letter to a Scientific Journal</a:t>
            </a:r>
            <a:endParaRPr lang="en-PK" dirty="0"/>
          </a:p>
        </p:txBody>
      </p:sp>
    </p:spTree>
    <p:extLst>
      <p:ext uri="{BB962C8B-B14F-4D97-AF65-F5344CB8AC3E}">
        <p14:creationId xmlns:p14="http://schemas.microsoft.com/office/powerpoint/2010/main" val="21089425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4A1E9-384D-992A-82E8-2B70B1DB22E0}"/>
              </a:ext>
            </a:extLst>
          </p:cNvPr>
          <p:cNvSpPr>
            <a:spLocks noGrp="1"/>
          </p:cNvSpPr>
          <p:nvPr>
            <p:ph type="title"/>
          </p:nvPr>
        </p:nvSpPr>
        <p:spPr/>
        <p:txBody>
          <a:bodyPr>
            <a:normAutofit/>
          </a:bodyPr>
          <a:lstStyle/>
          <a:p>
            <a:r>
              <a:rPr lang="en-GB" b="1" dirty="0"/>
              <a:t>The Anatomy of a Formal Letter</a:t>
            </a:r>
            <a:endParaRPr lang="en-PK" dirty="0"/>
          </a:p>
        </p:txBody>
      </p:sp>
      <p:sp>
        <p:nvSpPr>
          <p:cNvPr id="3" name="Content Placeholder 2">
            <a:extLst>
              <a:ext uri="{FF2B5EF4-FFF2-40B4-BE49-F238E27FC236}">
                <a16:creationId xmlns:a16="http://schemas.microsoft.com/office/drawing/2014/main" id="{47275B36-DE8A-1CC8-774A-D47E6F1EA4F9}"/>
              </a:ext>
            </a:extLst>
          </p:cNvPr>
          <p:cNvSpPr>
            <a:spLocks noGrp="1"/>
          </p:cNvSpPr>
          <p:nvPr>
            <p:ph idx="1"/>
          </p:nvPr>
        </p:nvSpPr>
        <p:spPr/>
        <p:txBody>
          <a:bodyPr>
            <a:normAutofit/>
          </a:bodyPr>
          <a:lstStyle/>
          <a:p>
            <a:pPr marL="457200" indent="-457200">
              <a:buFont typeface="+mj-lt"/>
              <a:buAutoNum type="arabicPeriod"/>
            </a:pPr>
            <a:r>
              <a:rPr lang="en-GB" b="1" dirty="0"/>
              <a:t>Your Address (Sender's Address)</a:t>
            </a:r>
          </a:p>
          <a:p>
            <a:pPr marL="457200" indent="-457200">
              <a:buFont typeface="+mj-lt"/>
              <a:buAutoNum type="arabicPeriod"/>
            </a:pPr>
            <a:r>
              <a:rPr lang="en-GB" b="1" dirty="0"/>
              <a:t>Date</a:t>
            </a:r>
          </a:p>
          <a:p>
            <a:pPr marL="457200" indent="-457200">
              <a:buFont typeface="+mj-lt"/>
              <a:buAutoNum type="arabicPeriod"/>
            </a:pPr>
            <a:r>
              <a:rPr lang="en-GB" b="1" dirty="0"/>
              <a:t>Recipient's Address (Inside Address)</a:t>
            </a:r>
            <a:endParaRPr lang="en-GB" dirty="0"/>
          </a:p>
          <a:p>
            <a:pPr marL="457200" indent="-457200">
              <a:buFont typeface="+mj-lt"/>
              <a:buAutoNum type="arabicPeriod"/>
            </a:pPr>
            <a:r>
              <a:rPr lang="en-GB" b="1" dirty="0"/>
              <a:t>Subject Line (Brief and specific, e.g., "Application for Data Scientist Position, Ref: ID-2024")</a:t>
            </a:r>
          </a:p>
          <a:p>
            <a:pPr marL="457200" indent="-457200">
              <a:buFont typeface="+mj-lt"/>
              <a:buAutoNum type="arabicPeriod"/>
            </a:pPr>
            <a:r>
              <a:rPr lang="en-GB" b="1" dirty="0"/>
              <a:t>Salutation (e.g., Dear Dr. Smith:, Dear Hiring Manager:)</a:t>
            </a:r>
            <a:endParaRPr lang="en-GB" dirty="0"/>
          </a:p>
        </p:txBody>
      </p:sp>
    </p:spTree>
    <p:extLst>
      <p:ext uri="{BB962C8B-B14F-4D97-AF65-F5344CB8AC3E}">
        <p14:creationId xmlns:p14="http://schemas.microsoft.com/office/powerpoint/2010/main" val="6765725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99C9BF-D5DB-BDD8-D518-055906A7909C}"/>
              </a:ext>
            </a:extLst>
          </p:cNvPr>
          <p:cNvSpPr>
            <a:spLocks noGrp="1"/>
          </p:cNvSpPr>
          <p:nvPr>
            <p:ph idx="1"/>
          </p:nvPr>
        </p:nvSpPr>
        <p:spPr>
          <a:xfrm>
            <a:off x="1295401" y="999067"/>
            <a:ext cx="9601196" cy="4961466"/>
          </a:xfrm>
        </p:spPr>
        <p:txBody>
          <a:bodyPr>
            <a:normAutofit/>
          </a:bodyPr>
          <a:lstStyle/>
          <a:p>
            <a:pPr marL="457200" indent="-457200">
              <a:buFont typeface="+mj-lt"/>
              <a:buAutoNum type="arabicPeriod" startAt="6"/>
            </a:pPr>
            <a:r>
              <a:rPr lang="en-GB" b="1" dirty="0"/>
              <a:t>Body of the Letter</a:t>
            </a:r>
            <a:endParaRPr lang="en-GB" dirty="0"/>
          </a:p>
          <a:p>
            <a:pPr lvl="1"/>
            <a:r>
              <a:rPr lang="en-GB" b="1" dirty="0"/>
              <a:t>Paragraph 1:</a:t>
            </a:r>
            <a:r>
              <a:rPr lang="en-GB" dirty="0"/>
              <a:t> State your purpose clearly and concisely.</a:t>
            </a:r>
          </a:p>
          <a:p>
            <a:pPr lvl="1"/>
            <a:r>
              <a:rPr lang="en-GB" b="1" dirty="0"/>
              <a:t>Paragraph 2-3:</a:t>
            </a:r>
            <a:r>
              <a:rPr lang="en-GB" dirty="0"/>
              <a:t> Provide key details, evidence, or context.</a:t>
            </a:r>
          </a:p>
          <a:p>
            <a:pPr lvl="1"/>
            <a:r>
              <a:rPr lang="en-GB" b="1" dirty="0"/>
              <a:t>Final Paragraph:</a:t>
            </a:r>
            <a:r>
              <a:rPr lang="en-GB" dirty="0"/>
              <a:t> State the expected outcome or call to action.</a:t>
            </a:r>
          </a:p>
          <a:p>
            <a:pPr marL="457200" indent="-457200">
              <a:buFont typeface="+mj-lt"/>
              <a:buAutoNum type="arabicPeriod" startAt="7"/>
            </a:pPr>
            <a:r>
              <a:rPr lang="en-GB" b="1" dirty="0"/>
              <a:t>Complimentary Close (e.g., Sincerely, Yours faithfully, Respectfully yours)</a:t>
            </a:r>
            <a:endParaRPr lang="en-GB" dirty="0"/>
          </a:p>
          <a:p>
            <a:pPr marL="457200" indent="-457200">
              <a:buFont typeface="+mj-lt"/>
              <a:buAutoNum type="arabicPeriod" startAt="7"/>
            </a:pPr>
            <a:r>
              <a:rPr lang="en-GB" b="1" dirty="0"/>
              <a:t>Your Signature</a:t>
            </a:r>
            <a:r>
              <a:rPr lang="en-GB" dirty="0"/>
              <a:t> (handwritten)</a:t>
            </a:r>
          </a:p>
          <a:p>
            <a:pPr marL="457200" indent="-457200">
              <a:buFont typeface="+mj-lt"/>
              <a:buAutoNum type="arabicPeriod" startAt="7"/>
            </a:pPr>
            <a:r>
              <a:rPr lang="en-GB" b="1" dirty="0"/>
              <a:t>Your Typed Name</a:t>
            </a:r>
            <a:endParaRPr lang="en-GB" dirty="0"/>
          </a:p>
          <a:p>
            <a:pPr marL="457200" indent="-457200">
              <a:buFont typeface="+mj-lt"/>
              <a:buAutoNum type="arabicPeriod" startAt="7"/>
            </a:pPr>
            <a:r>
              <a:rPr lang="en-GB" b="1" dirty="0"/>
              <a:t>Enclosures (if applicable, e.g., "Encl.: Resume, Transcript")</a:t>
            </a:r>
            <a:endParaRPr lang="en-GB" dirty="0"/>
          </a:p>
          <a:p>
            <a:endParaRPr lang="en-PK" dirty="0"/>
          </a:p>
        </p:txBody>
      </p:sp>
    </p:spTree>
    <p:extLst>
      <p:ext uri="{BB962C8B-B14F-4D97-AF65-F5344CB8AC3E}">
        <p14:creationId xmlns:p14="http://schemas.microsoft.com/office/powerpoint/2010/main" val="7268981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B0212-D004-F0E2-A6C8-A3995CB63C61}"/>
              </a:ext>
            </a:extLst>
          </p:cNvPr>
          <p:cNvSpPr>
            <a:spLocks noGrp="1"/>
          </p:cNvSpPr>
          <p:nvPr>
            <p:ph type="title"/>
          </p:nvPr>
        </p:nvSpPr>
        <p:spPr>
          <a:xfrm>
            <a:off x="1295402" y="2777066"/>
            <a:ext cx="9601196" cy="2150534"/>
          </a:xfrm>
        </p:spPr>
        <p:txBody>
          <a:bodyPr>
            <a:normAutofit/>
          </a:bodyPr>
          <a:lstStyle/>
          <a:p>
            <a:r>
              <a:rPr lang="en-GB" b="1" dirty="0"/>
              <a:t>Crafting the Content - Tone, Language, and Structure</a:t>
            </a:r>
            <a:br>
              <a:rPr lang="en-GB" b="1" dirty="0"/>
            </a:br>
            <a:endParaRPr lang="en-PK" dirty="0"/>
          </a:p>
        </p:txBody>
      </p:sp>
    </p:spTree>
    <p:extLst>
      <p:ext uri="{BB962C8B-B14F-4D97-AF65-F5344CB8AC3E}">
        <p14:creationId xmlns:p14="http://schemas.microsoft.com/office/powerpoint/2010/main" val="11890792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86363-B8EB-0C66-57CB-1BB134CA5F3A}"/>
              </a:ext>
            </a:extLst>
          </p:cNvPr>
          <p:cNvSpPr>
            <a:spLocks noGrp="1"/>
          </p:cNvSpPr>
          <p:nvPr>
            <p:ph type="title"/>
          </p:nvPr>
        </p:nvSpPr>
        <p:spPr>
          <a:xfrm>
            <a:off x="1295402" y="474134"/>
            <a:ext cx="9601196" cy="1811866"/>
          </a:xfrm>
        </p:spPr>
        <p:txBody>
          <a:bodyPr/>
          <a:lstStyle/>
          <a:p>
            <a:r>
              <a:rPr lang="en-GB" sz="4800" dirty="0"/>
              <a:t>Tone</a:t>
            </a:r>
            <a:r>
              <a:rPr lang="en-GB" dirty="0"/>
              <a:t> </a:t>
            </a:r>
            <a:endParaRPr lang="en-PK" dirty="0"/>
          </a:p>
        </p:txBody>
      </p:sp>
      <p:sp>
        <p:nvSpPr>
          <p:cNvPr id="3" name="Content Placeholder 2">
            <a:extLst>
              <a:ext uri="{FF2B5EF4-FFF2-40B4-BE49-F238E27FC236}">
                <a16:creationId xmlns:a16="http://schemas.microsoft.com/office/drawing/2014/main" id="{A48B9ADE-48FE-55CA-198E-8917FFAD1C2E}"/>
              </a:ext>
            </a:extLst>
          </p:cNvPr>
          <p:cNvSpPr>
            <a:spLocks noGrp="1"/>
          </p:cNvSpPr>
          <p:nvPr>
            <p:ph idx="1"/>
          </p:nvPr>
        </p:nvSpPr>
        <p:spPr/>
        <p:txBody>
          <a:bodyPr>
            <a:normAutofit/>
          </a:bodyPr>
          <a:lstStyle/>
          <a:p>
            <a:r>
              <a:rPr lang="en-GB" sz="3600" b="1" dirty="0"/>
              <a:t>Professional, Confident, and Courteous.</a:t>
            </a:r>
            <a:endParaRPr lang="en-GB" sz="3600" dirty="0"/>
          </a:p>
          <a:p>
            <a:r>
              <a:rPr lang="en-GB" sz="3600" dirty="0"/>
              <a:t>Avoid contractions (don't -&gt; do not, can't -&gt; cannot).</a:t>
            </a:r>
          </a:p>
          <a:p>
            <a:r>
              <a:rPr lang="en-GB" sz="3600" dirty="0"/>
              <a:t>Avoid colloquialisms, slang, and emotional language.</a:t>
            </a:r>
          </a:p>
        </p:txBody>
      </p:sp>
    </p:spTree>
    <p:extLst>
      <p:ext uri="{BB962C8B-B14F-4D97-AF65-F5344CB8AC3E}">
        <p14:creationId xmlns:p14="http://schemas.microsoft.com/office/powerpoint/2010/main" val="42809399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DD0FE-AE2C-0B6B-9575-2711A102E03B}"/>
              </a:ext>
            </a:extLst>
          </p:cNvPr>
          <p:cNvSpPr>
            <a:spLocks noGrp="1"/>
          </p:cNvSpPr>
          <p:nvPr>
            <p:ph type="title"/>
          </p:nvPr>
        </p:nvSpPr>
        <p:spPr>
          <a:xfrm>
            <a:off x="1295401" y="330198"/>
            <a:ext cx="9601196" cy="1303867"/>
          </a:xfrm>
        </p:spPr>
        <p:txBody>
          <a:bodyPr/>
          <a:lstStyle/>
          <a:p>
            <a:r>
              <a:rPr lang="en-GB" dirty="0"/>
              <a:t>Language</a:t>
            </a:r>
            <a:endParaRPr lang="en-PK" dirty="0"/>
          </a:p>
        </p:txBody>
      </p:sp>
      <p:sp>
        <p:nvSpPr>
          <p:cNvPr id="3" name="Content Placeholder 2">
            <a:extLst>
              <a:ext uri="{FF2B5EF4-FFF2-40B4-BE49-F238E27FC236}">
                <a16:creationId xmlns:a16="http://schemas.microsoft.com/office/drawing/2014/main" id="{C7773361-8435-F981-995A-D725A3056455}"/>
              </a:ext>
            </a:extLst>
          </p:cNvPr>
          <p:cNvSpPr>
            <a:spLocks noGrp="1"/>
          </p:cNvSpPr>
          <p:nvPr>
            <p:ph idx="1"/>
          </p:nvPr>
        </p:nvSpPr>
        <p:spPr>
          <a:xfrm>
            <a:off x="1295401" y="1896533"/>
            <a:ext cx="9601196" cy="3979335"/>
          </a:xfrm>
        </p:spPr>
        <p:txBody>
          <a:bodyPr>
            <a:noAutofit/>
          </a:bodyPr>
          <a:lstStyle/>
          <a:p>
            <a:r>
              <a:rPr lang="en-GB" sz="2800" b="1" dirty="0"/>
              <a:t>Be Direct:</a:t>
            </a:r>
            <a:r>
              <a:rPr lang="en-GB" sz="2800" dirty="0"/>
              <a:t> "I am writing to apply for..." instead of "I thought I would send this letter to apply for..."</a:t>
            </a:r>
          </a:p>
          <a:p>
            <a:r>
              <a:rPr lang="en-GB" sz="2800" b="1" dirty="0"/>
              <a:t>Use Active Voice:</a:t>
            </a:r>
            <a:r>
              <a:rPr lang="en-GB" sz="2800" dirty="0"/>
              <a:t> "I conducted the experiment..." is stronger than "The experiment was conducted by me..."</a:t>
            </a:r>
          </a:p>
          <a:p>
            <a:r>
              <a:rPr lang="en-GB" sz="2800" b="1" dirty="0"/>
              <a:t>Be Specific and Quantifiable:</a:t>
            </a:r>
            <a:r>
              <a:rPr lang="en-GB" sz="2800" dirty="0"/>
              <a:t> Instead of "I have good lab skills," write "I have proficient experience in PCR, gel electrophoresis, and cell culture techniques."</a:t>
            </a:r>
          </a:p>
        </p:txBody>
      </p:sp>
    </p:spTree>
    <p:extLst>
      <p:ext uri="{BB962C8B-B14F-4D97-AF65-F5344CB8AC3E}">
        <p14:creationId xmlns:p14="http://schemas.microsoft.com/office/powerpoint/2010/main" val="42370259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C1659-349D-59FB-0570-02D087CABA23}"/>
              </a:ext>
            </a:extLst>
          </p:cNvPr>
          <p:cNvSpPr>
            <a:spLocks noGrp="1"/>
          </p:cNvSpPr>
          <p:nvPr>
            <p:ph type="title"/>
          </p:nvPr>
        </p:nvSpPr>
        <p:spPr>
          <a:xfrm>
            <a:off x="1295402" y="330198"/>
            <a:ext cx="9601196" cy="1303867"/>
          </a:xfrm>
        </p:spPr>
        <p:txBody>
          <a:bodyPr/>
          <a:lstStyle/>
          <a:p>
            <a:r>
              <a:rPr lang="en-GB" dirty="0"/>
              <a:t>The Body Paragraph</a:t>
            </a:r>
            <a:endParaRPr lang="en-PK" dirty="0"/>
          </a:p>
        </p:txBody>
      </p:sp>
      <p:sp>
        <p:nvSpPr>
          <p:cNvPr id="3" name="Content Placeholder 2">
            <a:extLst>
              <a:ext uri="{FF2B5EF4-FFF2-40B4-BE49-F238E27FC236}">
                <a16:creationId xmlns:a16="http://schemas.microsoft.com/office/drawing/2014/main" id="{8C896258-A9C9-4D6E-0EB1-A6146BE981EB}"/>
              </a:ext>
            </a:extLst>
          </p:cNvPr>
          <p:cNvSpPr>
            <a:spLocks noGrp="1"/>
          </p:cNvSpPr>
          <p:nvPr>
            <p:ph idx="1"/>
          </p:nvPr>
        </p:nvSpPr>
        <p:spPr>
          <a:xfrm>
            <a:off x="914400" y="1862667"/>
            <a:ext cx="10515600" cy="4013201"/>
          </a:xfrm>
        </p:spPr>
        <p:txBody>
          <a:bodyPr>
            <a:noAutofit/>
          </a:bodyPr>
          <a:lstStyle/>
          <a:p>
            <a:r>
              <a:rPr lang="en-GB" sz="2800" b="1" dirty="0"/>
              <a:t>Paragraph 1: The Hook.</a:t>
            </a:r>
            <a:r>
              <a:rPr lang="en-GB" sz="2800" dirty="0"/>
              <a:t> State who you are and your purpose immediately.</a:t>
            </a:r>
          </a:p>
          <a:p>
            <a:r>
              <a:rPr lang="en-GB" sz="2800" b="1" dirty="0"/>
              <a:t>Paragraph 2: The Evidence.</a:t>
            </a:r>
            <a:r>
              <a:rPr lang="en-GB" sz="2800" dirty="0"/>
              <a:t> Connect your skills/request to the recipient's needs. For a job, this is where you match your qualifications to the job description.</a:t>
            </a:r>
          </a:p>
          <a:p>
            <a:r>
              <a:rPr lang="en-GB" sz="2800" b="1" dirty="0"/>
              <a:t>Paragraph 3: The Action.</a:t>
            </a:r>
            <a:r>
              <a:rPr lang="en-GB" sz="2800" dirty="0"/>
              <a:t> Clearly state what you want to happen next (e.g., "I have attached my resume and am available for an interview at your convenience.").</a:t>
            </a:r>
          </a:p>
        </p:txBody>
      </p:sp>
    </p:spTree>
    <p:extLst>
      <p:ext uri="{BB962C8B-B14F-4D97-AF65-F5344CB8AC3E}">
        <p14:creationId xmlns:p14="http://schemas.microsoft.com/office/powerpoint/2010/main" val="42409036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ECEA6-EE52-E34B-0C94-58F80B17AD55}"/>
              </a:ext>
            </a:extLst>
          </p:cNvPr>
          <p:cNvSpPr>
            <a:spLocks noGrp="1"/>
          </p:cNvSpPr>
          <p:nvPr>
            <p:ph type="title"/>
          </p:nvPr>
        </p:nvSpPr>
        <p:spPr>
          <a:xfrm>
            <a:off x="1126069" y="2777066"/>
            <a:ext cx="9601196" cy="1303867"/>
          </a:xfrm>
        </p:spPr>
        <p:txBody>
          <a:bodyPr>
            <a:normAutofit fontScale="90000"/>
          </a:bodyPr>
          <a:lstStyle/>
          <a:p>
            <a:r>
              <a:rPr lang="en-GB" b="1" dirty="0"/>
              <a:t>Hands-On Workshop - The Cover Letter</a:t>
            </a:r>
            <a:endParaRPr lang="en-PK" dirty="0"/>
          </a:p>
        </p:txBody>
      </p:sp>
    </p:spTree>
    <p:extLst>
      <p:ext uri="{BB962C8B-B14F-4D97-AF65-F5344CB8AC3E}">
        <p14:creationId xmlns:p14="http://schemas.microsoft.com/office/powerpoint/2010/main" val="23634638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FD2182-5A5A-57A6-090A-13EC4CE99FA4}"/>
              </a:ext>
            </a:extLst>
          </p:cNvPr>
          <p:cNvSpPr>
            <a:spLocks noGrp="1"/>
          </p:cNvSpPr>
          <p:nvPr>
            <p:ph idx="1"/>
          </p:nvPr>
        </p:nvSpPr>
        <p:spPr>
          <a:xfrm>
            <a:off x="1295401" y="1032933"/>
            <a:ext cx="9601196" cy="4842935"/>
          </a:xfrm>
        </p:spPr>
        <p:txBody>
          <a:bodyPr>
            <a:normAutofit lnSpcReduction="10000"/>
          </a:bodyPr>
          <a:lstStyle/>
          <a:p>
            <a:r>
              <a:rPr lang="en-GB" sz="2800" b="1" dirty="0"/>
              <a:t>Summative Assignment:</a:t>
            </a:r>
            <a:r>
              <a:rPr lang="en-GB" sz="2800" dirty="0"/>
              <a:t> Submit a final, polished formal letter based on a provided prompt (e.g., a specific job ad, an inquiry to a graduate program).</a:t>
            </a:r>
          </a:p>
          <a:p>
            <a:r>
              <a:rPr lang="en-GB" sz="2800" b="1" dirty="0"/>
              <a:t>Rubric:</a:t>
            </a:r>
            <a:r>
              <a:rPr lang="en-GB" sz="2800" dirty="0"/>
              <a:t> Assess on:</a:t>
            </a:r>
          </a:p>
          <a:p>
            <a:pPr lvl="1"/>
            <a:r>
              <a:rPr lang="en-GB" sz="2800" b="1" dirty="0"/>
              <a:t>Format &amp; Structure (20%)</a:t>
            </a:r>
            <a:endParaRPr lang="en-GB" sz="2800" dirty="0"/>
          </a:p>
          <a:p>
            <a:pPr lvl="1"/>
            <a:r>
              <a:rPr lang="en-GB" sz="2800" b="1" dirty="0"/>
              <a:t>Content &amp; Clarity (30%)</a:t>
            </a:r>
            <a:endParaRPr lang="en-GB" sz="2800" dirty="0"/>
          </a:p>
          <a:p>
            <a:pPr lvl="1"/>
            <a:r>
              <a:rPr lang="en-GB" sz="2800" b="1" dirty="0"/>
              <a:t>Tone &amp; Professionalism (20%)</a:t>
            </a:r>
            <a:endParaRPr lang="en-GB" sz="2800" dirty="0"/>
          </a:p>
          <a:p>
            <a:pPr lvl="1"/>
            <a:r>
              <a:rPr lang="en-GB" sz="2800" b="1" dirty="0"/>
              <a:t>Grammar &amp; Mechanics (20%)</a:t>
            </a:r>
            <a:endParaRPr lang="en-GB" sz="2800" dirty="0"/>
          </a:p>
          <a:p>
            <a:pPr lvl="1"/>
            <a:r>
              <a:rPr lang="en-GB" sz="2800" b="1" dirty="0"/>
              <a:t>Audience Awareness (10%)</a:t>
            </a:r>
            <a:endParaRPr lang="en-GB" sz="2800" dirty="0"/>
          </a:p>
          <a:p>
            <a:endParaRPr lang="en-PK" dirty="0"/>
          </a:p>
        </p:txBody>
      </p:sp>
    </p:spTree>
    <p:extLst>
      <p:ext uri="{BB962C8B-B14F-4D97-AF65-F5344CB8AC3E}">
        <p14:creationId xmlns:p14="http://schemas.microsoft.com/office/powerpoint/2010/main" val="5737128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D06B9C-081A-05D0-1D37-9C96684C58AF}"/>
              </a:ext>
            </a:extLst>
          </p:cNvPr>
          <p:cNvSpPr>
            <a:spLocks noGrp="1"/>
          </p:cNvSpPr>
          <p:nvPr>
            <p:ph idx="1"/>
          </p:nvPr>
        </p:nvSpPr>
        <p:spPr>
          <a:xfrm>
            <a:off x="1295401" y="1016001"/>
            <a:ext cx="9601196" cy="4859868"/>
          </a:xfrm>
        </p:spPr>
        <p:txBody>
          <a:bodyPr>
            <a:noAutofit/>
          </a:bodyPr>
          <a:lstStyle/>
          <a:p>
            <a:r>
              <a:rPr lang="en-GB" sz="3600" b="1" dirty="0"/>
              <a:t>Adapting the Structure:</a:t>
            </a:r>
            <a:endParaRPr lang="en-GB" sz="3600" dirty="0"/>
          </a:p>
          <a:p>
            <a:pPr lvl="1"/>
            <a:r>
              <a:rPr lang="en-GB" sz="3600" b="1" dirty="0"/>
              <a:t>Inquiry Letter:</a:t>
            </a:r>
            <a:r>
              <a:rPr lang="en-GB" sz="3600" dirty="0"/>
              <a:t> Focus on asking specific, intelligent questions that show you've done your research.</a:t>
            </a:r>
          </a:p>
          <a:p>
            <a:pPr lvl="1"/>
            <a:r>
              <a:rPr lang="en-GB" sz="3600" b="1" dirty="0"/>
              <a:t>Recommendation Request:</a:t>
            </a:r>
            <a:r>
              <a:rPr lang="en-GB" sz="3600" dirty="0"/>
              <a:t> Be polite, provide context (what the recommendation is for), and offer your CV/resume to help the professor write a strong letter. Always ask </a:t>
            </a:r>
            <a:r>
              <a:rPr lang="en-GB" sz="3600" i="1" dirty="0"/>
              <a:t>well in advance</a:t>
            </a:r>
            <a:r>
              <a:rPr lang="en-GB" sz="3600" dirty="0"/>
              <a:t>.</a:t>
            </a:r>
          </a:p>
        </p:txBody>
      </p:sp>
    </p:spTree>
    <p:extLst>
      <p:ext uri="{BB962C8B-B14F-4D97-AF65-F5344CB8AC3E}">
        <p14:creationId xmlns:p14="http://schemas.microsoft.com/office/powerpoint/2010/main" val="6215980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5E3526-0899-058E-77FD-DB758C5F5B66}"/>
              </a:ext>
            </a:extLst>
          </p:cNvPr>
          <p:cNvSpPr>
            <a:spLocks noGrp="1"/>
          </p:cNvSpPr>
          <p:nvPr>
            <p:ph idx="1"/>
          </p:nvPr>
        </p:nvSpPr>
        <p:spPr>
          <a:xfrm>
            <a:off x="1295401" y="897467"/>
            <a:ext cx="9601196" cy="5164666"/>
          </a:xfrm>
        </p:spPr>
        <p:txBody>
          <a:bodyPr>
            <a:normAutofit lnSpcReduction="10000"/>
          </a:bodyPr>
          <a:lstStyle/>
          <a:p>
            <a:r>
              <a:rPr lang="en-GB" sz="2800" b="1" dirty="0"/>
              <a:t>Common Pitfalls to Avoid:</a:t>
            </a:r>
            <a:endParaRPr lang="en-GB" sz="2800" dirty="0"/>
          </a:p>
          <a:p>
            <a:pPr lvl="1"/>
            <a:r>
              <a:rPr lang="en-GB" sz="2800" b="1" dirty="0"/>
              <a:t>Spelling the Recipient's Name Wrong:</a:t>
            </a:r>
            <a:r>
              <a:rPr lang="en-GB" sz="2800" dirty="0"/>
              <a:t> Triple-check!</a:t>
            </a:r>
          </a:p>
          <a:p>
            <a:pPr lvl="1"/>
            <a:r>
              <a:rPr lang="en-GB" sz="2800" b="1" dirty="0"/>
              <a:t>Being Too Vague or Too Long:</a:t>
            </a:r>
            <a:r>
              <a:rPr lang="en-GB" sz="2800" dirty="0"/>
              <a:t> Respect the reader's time.</a:t>
            </a:r>
          </a:p>
          <a:p>
            <a:pPr lvl="1"/>
            <a:r>
              <a:rPr lang="en-GB" sz="2800" b="1" dirty="0"/>
              <a:t>Using Jargon Unnecessarily:</a:t>
            </a:r>
            <a:r>
              <a:rPr lang="en-GB" sz="2800" dirty="0"/>
              <a:t> Know your audience. A letter to a technical manager can use more jargon than one to a general HR person.</a:t>
            </a:r>
          </a:p>
          <a:p>
            <a:pPr lvl="1"/>
            <a:r>
              <a:rPr lang="en-GB" sz="2800" b="1" dirty="0"/>
              <a:t>Typos and Grammatical Errors:</a:t>
            </a:r>
            <a:r>
              <a:rPr lang="en-GB" sz="2800" dirty="0"/>
              <a:t> Undermines professionalism. Emphasize proofreading.</a:t>
            </a:r>
          </a:p>
          <a:p>
            <a:pPr lvl="1"/>
            <a:r>
              <a:rPr lang="en-GB" sz="2800" b="1" dirty="0"/>
              <a:t>Forgetting the Call to Action:</a:t>
            </a:r>
            <a:r>
              <a:rPr lang="en-GB" sz="2800" dirty="0"/>
              <a:t> What do you want the reader to </a:t>
            </a:r>
            <a:r>
              <a:rPr lang="en-GB" sz="2800" i="1" dirty="0"/>
              <a:t>do</a:t>
            </a:r>
            <a:r>
              <a:rPr lang="en-GB" sz="2800" dirty="0"/>
              <a:t>?</a:t>
            </a:r>
          </a:p>
          <a:p>
            <a:endParaRPr lang="en-PK" dirty="0"/>
          </a:p>
        </p:txBody>
      </p:sp>
    </p:spTree>
    <p:extLst>
      <p:ext uri="{BB962C8B-B14F-4D97-AF65-F5344CB8AC3E}">
        <p14:creationId xmlns:p14="http://schemas.microsoft.com/office/powerpoint/2010/main" val="2283205406"/>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TM02900743[[fn=Organic]]</Template>
  <TotalTime>113</TotalTime>
  <Words>1231</Words>
  <Application>Microsoft Office PowerPoint</Application>
  <PresentationFormat>Widescreen</PresentationFormat>
  <Paragraphs>92</Paragraphs>
  <Slides>19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Garamond</vt:lpstr>
      <vt:lpstr>Organic</vt:lpstr>
      <vt:lpstr>Formal letters</vt:lpstr>
      <vt:lpstr>PowerPoint Presentation</vt:lpstr>
      <vt:lpstr>PowerPoint Presentation</vt:lpstr>
      <vt:lpstr>PowerPoint Presentation</vt:lpstr>
      <vt:lpstr>PowerPoint Presentation</vt:lpstr>
      <vt:lpstr>PowerPoint Presentation</vt:lpstr>
      <vt:lpstr>PowerPoint Presentation</vt:lpstr>
      <vt:lpstr>End salutations</vt:lpstr>
      <vt:lpstr>PowerPoint Presentation</vt:lpstr>
      <vt:lpstr>The Anatomy of a Formal Letter</vt:lpstr>
      <vt:lpstr>PowerPoint Presentation</vt:lpstr>
      <vt:lpstr>Crafting the Content - Tone, Language, and Structure </vt:lpstr>
      <vt:lpstr>Tone </vt:lpstr>
      <vt:lpstr>Language</vt:lpstr>
      <vt:lpstr>The Body Paragraph</vt:lpstr>
      <vt:lpstr>Hands-On Workshop - The Cover Letter</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MR COMPUTER</dc:creator>
  <cp:lastModifiedBy>MR COMPUTER</cp:lastModifiedBy>
  <cp:revision>2</cp:revision>
  <dcterms:created xsi:type="dcterms:W3CDTF">2025-11-06T04:51:59Z</dcterms:created>
  <dcterms:modified xsi:type="dcterms:W3CDTF">2025-11-07T04:59:51Z</dcterms:modified>
</cp:coreProperties>
</file>